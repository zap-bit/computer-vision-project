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-1" y="0"/>
            <a:ext cx="320042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Text 1"/>
          <p:cNvSpPr txBox="1"/>
          <p:nvPr/>
        </p:nvSpPr>
        <p:spPr>
          <a:xfrm>
            <a:off x="594359" y="678665"/>
            <a:ext cx="8138161" cy="7457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5200">
                <a:solidFill>
                  <a:srgbClr val="FFFFFF"/>
                </a:solidFill>
              </a:defRPr>
            </a:lvl1pPr>
          </a:lstStyle>
          <a:p>
            <a:pPr/>
            <a:r>
              <a:t>StockSync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594359" y="1590128"/>
            <a:ext cx="7680961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000">
                <a:solidFill>
                  <a:srgbClr val="00C896"/>
                </a:solidFill>
              </a:defRPr>
            </a:lvl1pPr>
          </a:lstStyle>
          <a:p>
            <a:pPr/>
            <a:r>
              <a:t>Real-Time Automated Retail Inventory Tracking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594359" y="2039314"/>
            <a:ext cx="7680961" cy="310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700">
                <a:solidFill>
                  <a:srgbClr val="E8F4F8"/>
                </a:solidFill>
              </a:defRPr>
            </a:lvl1pPr>
          </a:lstStyle>
          <a:p>
            <a:pPr/>
            <a:r>
              <a:t>on NVIDIA Jetson Orin Nano Using YOLOv8 Instance Segmentation</a:t>
            </a:r>
          </a:p>
        </p:txBody>
      </p:sp>
      <p:sp>
        <p:nvSpPr>
          <p:cNvPr id="24" name="Shape 4"/>
          <p:cNvSpPr/>
          <p:nvPr/>
        </p:nvSpPr>
        <p:spPr>
          <a:xfrm>
            <a:off x="548640" y="2560320"/>
            <a:ext cx="7315201" cy="27433"/>
          </a:xfrm>
          <a:prstGeom prst="rect">
            <a:avLst/>
          </a:prstGeom>
          <a:solidFill>
            <a:srgbClr val="8BAFC4"/>
          </a:solidFill>
          <a:ln w="12700">
            <a:solidFill>
              <a:srgbClr val="8BAFC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" name="Shape 5"/>
          <p:cNvSpPr/>
          <p:nvPr/>
        </p:nvSpPr>
        <p:spPr>
          <a:xfrm>
            <a:off x="548640" y="2743200"/>
            <a:ext cx="1965961" cy="502920"/>
          </a:xfrm>
          <a:prstGeom prst="roundRect">
            <a:avLst>
              <a:gd name="adj" fmla="val 9091"/>
            </a:avLst>
          </a:prstGeom>
          <a:solidFill>
            <a:srgbClr val="112240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" name="Text 6"/>
          <p:cNvSpPr txBox="1"/>
          <p:nvPr/>
        </p:nvSpPr>
        <p:spPr>
          <a:xfrm>
            <a:off x="594359" y="2880404"/>
            <a:ext cx="187452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Disha Shetty (Lead)</a:t>
            </a:r>
          </a:p>
        </p:txBody>
      </p:sp>
      <p:sp>
        <p:nvSpPr>
          <p:cNvPr id="27" name="Shape 7"/>
          <p:cNvSpPr/>
          <p:nvPr/>
        </p:nvSpPr>
        <p:spPr>
          <a:xfrm>
            <a:off x="2651760" y="2743200"/>
            <a:ext cx="1965961" cy="502920"/>
          </a:xfrm>
          <a:prstGeom prst="roundRect">
            <a:avLst>
              <a:gd name="adj" fmla="val 9091"/>
            </a:avLst>
          </a:prstGeom>
          <a:solidFill>
            <a:srgbClr val="112240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Text 8"/>
          <p:cNvSpPr txBox="1"/>
          <p:nvPr/>
        </p:nvSpPr>
        <p:spPr>
          <a:xfrm>
            <a:off x="2697479" y="2880404"/>
            <a:ext cx="187452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Kashish Pavan Daulatani</a:t>
            </a:r>
          </a:p>
        </p:txBody>
      </p:sp>
      <p:sp>
        <p:nvSpPr>
          <p:cNvPr id="29" name="Shape 9"/>
          <p:cNvSpPr/>
          <p:nvPr/>
        </p:nvSpPr>
        <p:spPr>
          <a:xfrm>
            <a:off x="4754879" y="2743200"/>
            <a:ext cx="1965961" cy="502920"/>
          </a:xfrm>
          <a:prstGeom prst="roundRect">
            <a:avLst>
              <a:gd name="adj" fmla="val 9091"/>
            </a:avLst>
          </a:prstGeom>
          <a:solidFill>
            <a:srgbClr val="112240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" name="Text 10"/>
          <p:cNvSpPr txBox="1"/>
          <p:nvPr/>
        </p:nvSpPr>
        <p:spPr>
          <a:xfrm>
            <a:off x="4800600" y="2880404"/>
            <a:ext cx="187452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Hassan Asim</a:t>
            </a:r>
          </a:p>
        </p:txBody>
      </p:sp>
      <p:sp>
        <p:nvSpPr>
          <p:cNvPr id="31" name="Shape 11"/>
          <p:cNvSpPr/>
          <p:nvPr/>
        </p:nvSpPr>
        <p:spPr>
          <a:xfrm>
            <a:off x="6858000" y="2743200"/>
            <a:ext cx="1965961" cy="502920"/>
          </a:xfrm>
          <a:prstGeom prst="roundRect">
            <a:avLst>
              <a:gd name="adj" fmla="val 9091"/>
            </a:avLst>
          </a:prstGeom>
          <a:solidFill>
            <a:srgbClr val="112240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" name="Text 12"/>
          <p:cNvSpPr txBox="1"/>
          <p:nvPr/>
        </p:nvSpPr>
        <p:spPr>
          <a:xfrm>
            <a:off x="6903719" y="2880404"/>
            <a:ext cx="1874521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Aashlesha Peddiboyina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0"/>
          <p:cNvSpPr/>
          <p:nvPr/>
        </p:nvSpPr>
        <p:spPr>
          <a:xfrm>
            <a:off x="0" y="-1"/>
            <a:ext cx="9144000" cy="64008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" name="Text 1"/>
          <p:cNvSpPr txBox="1"/>
          <p:nvPr/>
        </p:nvSpPr>
        <p:spPr>
          <a:xfrm>
            <a:off x="411479" y="101208"/>
            <a:ext cx="813816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Problem &amp; Motivation</a:t>
            </a:r>
          </a:p>
        </p:txBody>
      </p:sp>
      <p:sp>
        <p:nvSpPr>
          <p:cNvPr id="36" name="Shape 2"/>
          <p:cNvSpPr/>
          <p:nvPr/>
        </p:nvSpPr>
        <p:spPr>
          <a:xfrm>
            <a:off x="365759" y="822960"/>
            <a:ext cx="3657601" cy="2011679"/>
          </a:xfrm>
          <a:prstGeom prst="rect">
            <a:avLst/>
          </a:prstGeom>
          <a:solidFill>
            <a:srgbClr val="112240"/>
          </a:solidFill>
          <a:ln w="254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" name="Text 3"/>
          <p:cNvSpPr txBox="1"/>
          <p:nvPr/>
        </p:nvSpPr>
        <p:spPr>
          <a:xfrm>
            <a:off x="411479" y="913704"/>
            <a:ext cx="3566161" cy="10072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7200">
                <a:solidFill>
                  <a:srgbClr val="00C896"/>
                </a:solidFill>
              </a:defRPr>
            </a:lvl1pPr>
          </a:lstStyle>
          <a:p>
            <a:pPr/>
            <a:r>
              <a:t>$1T</a:t>
            </a:r>
          </a:p>
        </p:txBody>
      </p:sp>
      <p:sp>
        <p:nvSpPr>
          <p:cNvPr id="38" name="Text 4"/>
          <p:cNvSpPr txBox="1"/>
          <p:nvPr/>
        </p:nvSpPr>
        <p:spPr>
          <a:xfrm>
            <a:off x="411479" y="2077020"/>
            <a:ext cx="3566161" cy="50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400">
                <a:solidFill>
                  <a:srgbClr val="E8F4F8"/>
                </a:solidFill>
              </a:defRPr>
            </a:pPr>
            <a:r>
              <a:t>Lost annually to</a:t>
            </a:r>
          </a:p>
          <a:p>
            <a:pPr algn="ctr">
              <a:defRPr sz="1400">
                <a:solidFill>
                  <a:srgbClr val="E8F4F8"/>
                </a:solidFill>
              </a:defRPr>
            </a:pPr>
            <a:r>
              <a:t>retail out-of-stocks</a:t>
            </a:r>
          </a:p>
        </p:txBody>
      </p:sp>
      <p:sp>
        <p:nvSpPr>
          <p:cNvPr id="39" name="Shape 5"/>
          <p:cNvSpPr/>
          <p:nvPr/>
        </p:nvSpPr>
        <p:spPr>
          <a:xfrm>
            <a:off x="4480559" y="822960"/>
            <a:ext cx="4389121" cy="804673"/>
          </a:xfrm>
          <a:prstGeom prst="rect">
            <a:avLst/>
          </a:prstGeom>
          <a:solidFill>
            <a:srgbClr val="112240"/>
          </a:solidFill>
          <a:ln w="12700">
            <a:solidFill>
              <a:srgbClr val="0D213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" name="Shape 6"/>
          <p:cNvSpPr/>
          <p:nvPr/>
        </p:nvSpPr>
        <p:spPr>
          <a:xfrm>
            <a:off x="4480559" y="822960"/>
            <a:ext cx="54865" cy="804673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" name="Text 7"/>
          <p:cNvSpPr txBox="1"/>
          <p:nvPr/>
        </p:nvSpPr>
        <p:spPr>
          <a:xfrm>
            <a:off x="4709160" y="994595"/>
            <a:ext cx="4023361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Manual shelf counting is slow, inconsistent, and error-prone</a:t>
            </a:r>
          </a:p>
        </p:txBody>
      </p:sp>
      <p:sp>
        <p:nvSpPr>
          <p:cNvPr id="42" name="Shape 8"/>
          <p:cNvSpPr/>
          <p:nvPr/>
        </p:nvSpPr>
        <p:spPr>
          <a:xfrm>
            <a:off x="4480559" y="1783079"/>
            <a:ext cx="4389121" cy="804673"/>
          </a:xfrm>
          <a:prstGeom prst="rect">
            <a:avLst/>
          </a:prstGeom>
          <a:solidFill>
            <a:srgbClr val="112240"/>
          </a:solidFill>
          <a:ln w="12700">
            <a:solidFill>
              <a:srgbClr val="0D213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" name="Shape 9"/>
          <p:cNvSpPr/>
          <p:nvPr/>
        </p:nvSpPr>
        <p:spPr>
          <a:xfrm>
            <a:off x="4480559" y="1783079"/>
            <a:ext cx="54865" cy="804673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4" name="Text 10"/>
          <p:cNvSpPr txBox="1"/>
          <p:nvPr/>
        </p:nvSpPr>
        <p:spPr>
          <a:xfrm>
            <a:off x="4709160" y="1954714"/>
            <a:ext cx="4023361" cy="46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Out-of-stocks lead directly to lost sales and poor customer experience</a:t>
            </a:r>
          </a:p>
        </p:txBody>
      </p:sp>
      <p:sp>
        <p:nvSpPr>
          <p:cNvPr id="45" name="Shape 11"/>
          <p:cNvSpPr/>
          <p:nvPr/>
        </p:nvSpPr>
        <p:spPr>
          <a:xfrm>
            <a:off x="4480559" y="2743200"/>
            <a:ext cx="4389121" cy="804673"/>
          </a:xfrm>
          <a:prstGeom prst="rect">
            <a:avLst/>
          </a:prstGeom>
          <a:solidFill>
            <a:srgbClr val="112240"/>
          </a:solidFill>
          <a:ln w="12700">
            <a:solidFill>
              <a:srgbClr val="0D213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" name="Shape 12"/>
          <p:cNvSpPr/>
          <p:nvPr/>
        </p:nvSpPr>
        <p:spPr>
          <a:xfrm>
            <a:off x="4480559" y="2743200"/>
            <a:ext cx="54865" cy="804673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" name="Text 13"/>
          <p:cNvSpPr txBox="1"/>
          <p:nvPr/>
        </p:nvSpPr>
        <p:spPr>
          <a:xfrm>
            <a:off x="4709160" y="2914834"/>
            <a:ext cx="4023361" cy="46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300">
                <a:solidFill>
                  <a:srgbClr val="FFFFFF"/>
                </a:solidFill>
              </a:defRPr>
            </a:lvl1pPr>
          </a:lstStyle>
          <a:p>
            <a:pPr/>
            <a:r>
              <a:t>Computer vision can automate tracking in real-time on affordable edge hardware</a:t>
            </a:r>
          </a:p>
        </p:txBody>
      </p:sp>
      <p:sp>
        <p:nvSpPr>
          <p:cNvPr id="48" name="Text 14"/>
          <p:cNvSpPr txBox="1"/>
          <p:nvPr/>
        </p:nvSpPr>
        <p:spPr>
          <a:xfrm>
            <a:off x="411479" y="4447847"/>
            <a:ext cx="832104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200">
                <a:solidFill>
                  <a:srgbClr val="00C896"/>
                </a:solidFill>
              </a:defRPr>
            </a:lvl1pPr>
          </a:lstStyle>
          <a:p>
            <a:pPr/>
            <a:r>
              <a:t>StockSync addresses this with a complete edge AI pipeline.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0"/>
          <p:cNvSpPr/>
          <p:nvPr/>
        </p:nvSpPr>
        <p:spPr>
          <a:xfrm>
            <a:off x="0" y="-1"/>
            <a:ext cx="9144000" cy="64008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1" name="Text 1"/>
          <p:cNvSpPr txBox="1"/>
          <p:nvPr/>
        </p:nvSpPr>
        <p:spPr>
          <a:xfrm>
            <a:off x="411479" y="101208"/>
            <a:ext cx="813816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Dataset</a:t>
            </a:r>
          </a:p>
        </p:txBody>
      </p:sp>
      <p:sp>
        <p:nvSpPr>
          <p:cNvPr id="52" name="Shape 2"/>
          <p:cNvSpPr/>
          <p:nvPr/>
        </p:nvSpPr>
        <p:spPr>
          <a:xfrm>
            <a:off x="320040" y="822960"/>
            <a:ext cx="1920240" cy="914401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" name="Text 3"/>
          <p:cNvSpPr txBox="1"/>
          <p:nvPr/>
        </p:nvSpPr>
        <p:spPr>
          <a:xfrm>
            <a:off x="365760" y="926842"/>
            <a:ext cx="1828801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ctr">
              <a:defRPr b="1" sz="2800">
                <a:solidFill>
                  <a:srgbClr val="00C896"/>
                </a:solidFill>
              </a:defRPr>
            </a:lvl1pPr>
          </a:lstStyle>
          <a:p>
            <a:pPr/>
            <a:r>
              <a:t>425</a:t>
            </a:r>
          </a:p>
        </p:txBody>
      </p:sp>
      <p:sp>
        <p:nvSpPr>
          <p:cNvPr id="54" name="Text 4"/>
          <p:cNvSpPr txBox="1"/>
          <p:nvPr/>
        </p:nvSpPr>
        <p:spPr>
          <a:xfrm>
            <a:off x="365760" y="1441626"/>
            <a:ext cx="18288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>
                <a:solidFill>
                  <a:srgbClr val="8BAFC4"/>
                </a:solidFill>
              </a:defRPr>
            </a:lvl1pPr>
          </a:lstStyle>
          <a:p>
            <a:pPr/>
            <a:r>
              <a:t>Images</a:t>
            </a:r>
          </a:p>
        </p:txBody>
      </p:sp>
      <p:sp>
        <p:nvSpPr>
          <p:cNvPr id="55" name="Shape 5"/>
          <p:cNvSpPr/>
          <p:nvPr/>
        </p:nvSpPr>
        <p:spPr>
          <a:xfrm>
            <a:off x="2468879" y="822960"/>
            <a:ext cx="1920241" cy="914401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Text 6"/>
          <p:cNvSpPr txBox="1"/>
          <p:nvPr/>
        </p:nvSpPr>
        <p:spPr>
          <a:xfrm>
            <a:off x="2514600" y="926842"/>
            <a:ext cx="1828800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ctr">
              <a:defRPr b="1" sz="2800">
                <a:solidFill>
                  <a:srgbClr val="00C896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57" name="Text 7"/>
          <p:cNvSpPr txBox="1"/>
          <p:nvPr/>
        </p:nvSpPr>
        <p:spPr>
          <a:xfrm>
            <a:off x="2514600" y="1441626"/>
            <a:ext cx="182880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>
                <a:solidFill>
                  <a:srgbClr val="8BAFC4"/>
                </a:solidFill>
              </a:defRPr>
            </a:lvl1pPr>
          </a:lstStyle>
          <a:p>
            <a:pPr/>
            <a:r>
              <a:t>Classes</a:t>
            </a:r>
          </a:p>
        </p:txBody>
      </p:sp>
      <p:sp>
        <p:nvSpPr>
          <p:cNvPr id="58" name="Shape 8"/>
          <p:cNvSpPr/>
          <p:nvPr/>
        </p:nvSpPr>
        <p:spPr>
          <a:xfrm>
            <a:off x="4617720" y="822960"/>
            <a:ext cx="1920241" cy="914401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" name="Text 9"/>
          <p:cNvSpPr txBox="1"/>
          <p:nvPr/>
        </p:nvSpPr>
        <p:spPr>
          <a:xfrm>
            <a:off x="4663440" y="926842"/>
            <a:ext cx="1828801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ctr">
              <a:defRPr b="1" sz="2800">
                <a:solidFill>
                  <a:srgbClr val="00C896"/>
                </a:solidFill>
              </a:defRPr>
            </a:lvl1pPr>
          </a:lstStyle>
          <a:p>
            <a:pPr/>
            <a:r>
              <a:t>Roboflow</a:t>
            </a:r>
          </a:p>
        </p:txBody>
      </p:sp>
      <p:sp>
        <p:nvSpPr>
          <p:cNvPr id="60" name="Text 10"/>
          <p:cNvSpPr txBox="1"/>
          <p:nvPr/>
        </p:nvSpPr>
        <p:spPr>
          <a:xfrm>
            <a:off x="4663440" y="1441626"/>
            <a:ext cx="18288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>
                <a:solidFill>
                  <a:srgbClr val="8BAFC4"/>
                </a:solidFill>
              </a:defRPr>
            </a:lvl1pPr>
          </a:lstStyle>
          <a:p>
            <a:pPr/>
            <a:r>
              <a:t>Platform</a:t>
            </a:r>
          </a:p>
        </p:txBody>
      </p:sp>
      <p:sp>
        <p:nvSpPr>
          <p:cNvPr id="61" name="Shape 11"/>
          <p:cNvSpPr/>
          <p:nvPr/>
        </p:nvSpPr>
        <p:spPr>
          <a:xfrm>
            <a:off x="6766559" y="822960"/>
            <a:ext cx="1920241" cy="914401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" name="Text 12"/>
          <p:cNvSpPr txBox="1"/>
          <p:nvPr/>
        </p:nvSpPr>
        <p:spPr>
          <a:xfrm>
            <a:off x="6812279" y="926842"/>
            <a:ext cx="1828801" cy="444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 algn="ctr">
              <a:defRPr b="1" sz="2800">
                <a:solidFill>
                  <a:srgbClr val="00C896"/>
                </a:solidFill>
              </a:defRPr>
            </a:lvl1pPr>
          </a:lstStyle>
          <a:p>
            <a:pPr/>
            <a:r>
              <a:t>Masks</a:t>
            </a:r>
          </a:p>
        </p:txBody>
      </p:sp>
      <p:sp>
        <p:nvSpPr>
          <p:cNvPr id="63" name="Text 13"/>
          <p:cNvSpPr txBox="1"/>
          <p:nvPr/>
        </p:nvSpPr>
        <p:spPr>
          <a:xfrm>
            <a:off x="6812279" y="1441626"/>
            <a:ext cx="18288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>
                <a:solidFill>
                  <a:srgbClr val="8BAFC4"/>
                </a:solidFill>
              </a:defRPr>
            </a:lvl1pPr>
          </a:lstStyle>
          <a:p>
            <a:pPr/>
            <a:r>
              <a:t>Annotation Type</a:t>
            </a:r>
          </a:p>
        </p:txBody>
      </p:sp>
      <p:sp>
        <p:nvSpPr>
          <p:cNvPr id="64" name="Text 14"/>
          <p:cNvSpPr txBox="1"/>
          <p:nvPr/>
        </p:nvSpPr>
        <p:spPr>
          <a:xfrm>
            <a:off x="365760" y="1951159"/>
            <a:ext cx="4937760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E8F4F8"/>
                </a:solidFill>
              </a:defRPr>
            </a:lvl1pPr>
          </a:lstStyle>
          <a:p>
            <a:pPr/>
            <a:r>
              <a:t>Class Distribution (total images)</a:t>
            </a:r>
          </a:p>
        </p:txBody>
      </p:sp>
      <p:sp>
        <p:nvSpPr>
          <p:cNvPr id="65" name="Text 15"/>
          <p:cNvSpPr txBox="1"/>
          <p:nvPr/>
        </p:nvSpPr>
        <p:spPr>
          <a:xfrm>
            <a:off x="365759" y="2401746"/>
            <a:ext cx="118872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E8F4F8"/>
                </a:solidFill>
              </a:defRPr>
            </a:lvl1pPr>
          </a:lstStyle>
          <a:p>
            <a:pPr/>
            <a:r>
              <a:t>waterbottle</a:t>
            </a:r>
          </a:p>
        </p:txBody>
      </p:sp>
      <p:sp>
        <p:nvSpPr>
          <p:cNvPr id="66" name="Shape 16"/>
          <p:cNvSpPr/>
          <p:nvPr/>
        </p:nvSpPr>
        <p:spPr>
          <a:xfrm>
            <a:off x="1645920" y="2395727"/>
            <a:ext cx="4114801" cy="256033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" name="Text 17"/>
          <p:cNvSpPr txBox="1"/>
          <p:nvPr/>
        </p:nvSpPr>
        <p:spPr>
          <a:xfrm>
            <a:off x="5897879" y="2401746"/>
            <a:ext cx="36576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8BAFC4"/>
                </a:solidFill>
              </a:defRPr>
            </a:lvl1pPr>
          </a:lstStyle>
          <a:p>
            <a:pPr/>
            <a:r>
              <a:t>165</a:t>
            </a:r>
          </a:p>
        </p:txBody>
      </p:sp>
      <p:sp>
        <p:nvSpPr>
          <p:cNvPr id="68" name="Text 18"/>
          <p:cNvSpPr txBox="1"/>
          <p:nvPr/>
        </p:nvSpPr>
        <p:spPr>
          <a:xfrm>
            <a:off x="365759" y="2858946"/>
            <a:ext cx="118872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E8F4F8"/>
                </a:solidFill>
              </a:defRPr>
            </a:lvl1pPr>
          </a:lstStyle>
          <a:p>
            <a:pPr/>
            <a:r>
              <a:t>granola</a:t>
            </a:r>
          </a:p>
        </p:txBody>
      </p:sp>
      <p:sp>
        <p:nvSpPr>
          <p:cNvPr id="69" name="Shape 19"/>
          <p:cNvSpPr/>
          <p:nvPr/>
        </p:nvSpPr>
        <p:spPr>
          <a:xfrm>
            <a:off x="1645920" y="2852927"/>
            <a:ext cx="2842954" cy="256033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0" name="Text 20"/>
          <p:cNvSpPr txBox="1"/>
          <p:nvPr/>
        </p:nvSpPr>
        <p:spPr>
          <a:xfrm>
            <a:off x="4626033" y="2858946"/>
            <a:ext cx="36576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8BAFC4"/>
                </a:solidFill>
              </a:defRPr>
            </a:lvl1pPr>
          </a:lstStyle>
          <a:p>
            <a:pPr/>
            <a:r>
              <a:t>114</a:t>
            </a:r>
          </a:p>
        </p:txBody>
      </p:sp>
      <p:sp>
        <p:nvSpPr>
          <p:cNvPr id="71" name="Text 21"/>
          <p:cNvSpPr txBox="1"/>
          <p:nvPr/>
        </p:nvSpPr>
        <p:spPr>
          <a:xfrm>
            <a:off x="365759" y="3316146"/>
            <a:ext cx="118872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E8F4F8"/>
                </a:solidFill>
              </a:defRPr>
            </a:lvl1pPr>
          </a:lstStyle>
          <a:p>
            <a:pPr/>
            <a:r>
              <a:t>chocolate</a:t>
            </a:r>
          </a:p>
        </p:txBody>
      </p:sp>
      <p:sp>
        <p:nvSpPr>
          <p:cNvPr id="72" name="Shape 22"/>
          <p:cNvSpPr/>
          <p:nvPr/>
        </p:nvSpPr>
        <p:spPr>
          <a:xfrm>
            <a:off x="1645920" y="3310128"/>
            <a:ext cx="2618510" cy="256033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3" name="Text 23"/>
          <p:cNvSpPr txBox="1"/>
          <p:nvPr/>
        </p:nvSpPr>
        <p:spPr>
          <a:xfrm>
            <a:off x="4401589" y="3316146"/>
            <a:ext cx="36576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8BAFC4"/>
                </a:solidFill>
              </a:defRPr>
            </a:lvl1pPr>
          </a:lstStyle>
          <a:p>
            <a:pPr/>
            <a:r>
              <a:t>105</a:t>
            </a:r>
          </a:p>
        </p:txBody>
      </p:sp>
      <p:sp>
        <p:nvSpPr>
          <p:cNvPr id="74" name="Text 24"/>
          <p:cNvSpPr txBox="1"/>
          <p:nvPr/>
        </p:nvSpPr>
        <p:spPr>
          <a:xfrm>
            <a:off x="365759" y="3773346"/>
            <a:ext cx="118872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E8F4F8"/>
                </a:solidFill>
              </a:defRPr>
            </a:lvl1pPr>
          </a:lstStyle>
          <a:p>
            <a:pPr/>
            <a:r>
              <a:t>pen</a:t>
            </a:r>
          </a:p>
        </p:txBody>
      </p:sp>
      <p:sp>
        <p:nvSpPr>
          <p:cNvPr id="75" name="Shape 25"/>
          <p:cNvSpPr/>
          <p:nvPr/>
        </p:nvSpPr>
        <p:spPr>
          <a:xfrm>
            <a:off x="1645920" y="3767328"/>
            <a:ext cx="1246910" cy="256033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6" name="Text 26"/>
          <p:cNvSpPr txBox="1"/>
          <p:nvPr/>
        </p:nvSpPr>
        <p:spPr>
          <a:xfrm>
            <a:off x="3029989" y="3773346"/>
            <a:ext cx="36576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8BAFC4"/>
                </a:solidFill>
              </a:defRPr>
            </a:lvl1pPr>
          </a:lstStyle>
          <a:p>
            <a:pPr/>
            <a:r>
              <a:t>50</a:t>
            </a:r>
          </a:p>
        </p:txBody>
      </p:sp>
      <p:sp>
        <p:nvSpPr>
          <p:cNvPr id="77" name="Text 27"/>
          <p:cNvSpPr txBox="1"/>
          <p:nvPr/>
        </p:nvSpPr>
        <p:spPr>
          <a:xfrm>
            <a:off x="365759" y="4230546"/>
            <a:ext cx="118872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E8F4F8"/>
                </a:solidFill>
              </a:defRPr>
            </a:lvl1pPr>
          </a:lstStyle>
          <a:p>
            <a:pPr/>
            <a:r>
              <a:t>mouse</a:t>
            </a:r>
          </a:p>
        </p:txBody>
      </p:sp>
      <p:sp>
        <p:nvSpPr>
          <p:cNvPr id="78" name="Shape 28"/>
          <p:cNvSpPr/>
          <p:nvPr/>
        </p:nvSpPr>
        <p:spPr>
          <a:xfrm>
            <a:off x="1645920" y="4224528"/>
            <a:ext cx="548641" cy="256033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" name="Text 29"/>
          <p:cNvSpPr txBox="1"/>
          <p:nvPr/>
        </p:nvSpPr>
        <p:spPr>
          <a:xfrm>
            <a:off x="2331720" y="4230546"/>
            <a:ext cx="36576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8BAFC4"/>
                </a:solidFill>
              </a:defRPr>
            </a:lvl1pPr>
          </a:lstStyle>
          <a:p>
            <a:pPr/>
            <a:r>
              <a:t>22</a:t>
            </a:r>
          </a:p>
        </p:txBody>
      </p:sp>
      <p:sp>
        <p:nvSpPr>
          <p:cNvPr id="80" name="Text 30"/>
          <p:cNvSpPr txBox="1"/>
          <p:nvPr/>
        </p:nvSpPr>
        <p:spPr>
          <a:xfrm>
            <a:off x="6537959" y="1967406"/>
            <a:ext cx="22860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E8F4F8"/>
                </a:solidFill>
              </a:defRPr>
            </a:lvl1pPr>
          </a:lstStyle>
          <a:p>
            <a:pPr/>
            <a:r>
              <a:t>Train / Val / Test Split</a:t>
            </a:r>
          </a:p>
        </p:txBody>
      </p:sp>
      <p:graphicFrame>
        <p:nvGraphicFramePr>
          <p:cNvPr id="81" name="Table 0"/>
          <p:cNvGraphicFramePr/>
          <p:nvPr/>
        </p:nvGraphicFramePr>
        <p:xfrm>
          <a:off x="6492240" y="2286000"/>
          <a:ext cx="2377441" cy="237744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914400"/>
                <a:gridCol w="457200"/>
                <a:gridCol w="502919"/>
                <a:gridCol w="502919"/>
              </a:tblGrid>
              <a:tr h="3962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00C896"/>
                          </a:solidFill>
                        </a:rPr>
                        <a:t>Class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1C3A5A"/>
                      </a:solidFill>
                    </a:lnL>
                    <a:lnR w="6350">
                      <a:solidFill>
                        <a:srgbClr val="1C3A5A"/>
                      </a:solidFill>
                    </a:lnR>
                    <a:lnT w="6350">
                      <a:solidFill>
                        <a:srgbClr val="1C3A5A"/>
                      </a:solidFill>
                    </a:lnT>
                    <a:lnB w="6350">
                      <a:solidFill>
                        <a:srgbClr val="1C3A5A"/>
                      </a:solidFill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00C896"/>
                          </a:solidFill>
                        </a:rPr>
                        <a:t>Tr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1C3A5A"/>
                      </a:solidFill>
                    </a:lnL>
                    <a:lnR w="6350">
                      <a:solidFill>
                        <a:srgbClr val="1C3A5A"/>
                      </a:solidFill>
                    </a:lnR>
                    <a:lnT w="6350">
                      <a:solidFill>
                        <a:srgbClr val="1C3A5A"/>
                      </a:solidFill>
                    </a:lnT>
                    <a:lnB w="6350">
                      <a:solidFill>
                        <a:srgbClr val="1C3A5A"/>
                      </a:solidFill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00C896"/>
                          </a:solidFill>
                        </a:rPr>
                        <a:t>Val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1C3A5A"/>
                      </a:solidFill>
                    </a:lnL>
                    <a:lnR w="6350">
                      <a:solidFill>
                        <a:srgbClr val="1C3A5A"/>
                      </a:solidFill>
                    </a:lnR>
                    <a:lnT w="6350">
                      <a:solidFill>
                        <a:srgbClr val="1C3A5A"/>
                      </a:solidFill>
                    </a:lnT>
                    <a:lnB w="6350">
                      <a:solidFill>
                        <a:srgbClr val="1C3A5A"/>
                      </a:solidFill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00C896"/>
                          </a:solidFill>
                        </a:rPr>
                        <a:t>Te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1C3A5A"/>
                      </a:solidFill>
                    </a:lnL>
                    <a:lnR w="6350">
                      <a:solidFill>
                        <a:srgbClr val="1C3A5A"/>
                      </a:solidFill>
                    </a:lnR>
                    <a:lnT w="6350">
                      <a:solidFill>
                        <a:srgbClr val="1C3A5A"/>
                      </a:solidFill>
                    </a:lnT>
                    <a:lnB w="6350">
                      <a:solidFill>
                        <a:srgbClr val="1C3A5A"/>
                      </a:solidFill>
                    </a:lnB>
                    <a:solidFill>
                      <a:srgbClr val="11224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</a:rPr>
                        <a:t>waterbottle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1C3A5A"/>
                      </a:solidFill>
                    </a:lnL>
                    <a:lnR w="6350">
                      <a:solidFill>
                        <a:srgbClr val="1C3A5A"/>
                      </a:solidFill>
                    </a:lnR>
                    <a:lnT w="6350">
                      <a:solidFill>
                        <a:srgbClr val="1C3A5A"/>
                      </a:solidFill>
                    </a:lnT>
                    <a:lnB w="6350">
                      <a:solidFill>
                        <a:srgbClr val="1C3A5A"/>
                      </a:solidFill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</a:rPr>
                        <a:t>113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1C3A5A"/>
                      </a:solidFill>
                    </a:lnL>
                    <a:lnR w="6350">
                      <a:solidFill>
                        <a:srgbClr val="1C3A5A"/>
                      </a:solidFill>
                    </a:lnR>
                    <a:lnT w="6350">
                      <a:solidFill>
                        <a:srgbClr val="1C3A5A"/>
                      </a:solidFill>
                    </a:lnT>
                    <a:lnB w="6350">
                      <a:solidFill>
                        <a:srgbClr val="1C3A5A"/>
                      </a:solidFill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</a:rPr>
                        <a:t>29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1C3A5A"/>
                      </a:solidFill>
                    </a:lnL>
                    <a:lnR w="6350">
                      <a:solidFill>
                        <a:srgbClr val="1C3A5A"/>
                      </a:solidFill>
                    </a:lnR>
                    <a:lnT w="6350">
                      <a:solidFill>
                        <a:srgbClr val="1C3A5A"/>
                      </a:solidFill>
                    </a:lnT>
                    <a:lnB w="6350">
                      <a:solidFill>
                        <a:srgbClr val="1C3A5A"/>
                      </a:solidFill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</a:rPr>
                        <a:t>23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1C3A5A"/>
                      </a:solidFill>
                    </a:lnL>
                    <a:lnR w="6350">
                      <a:solidFill>
                        <a:srgbClr val="1C3A5A"/>
                      </a:solidFill>
                    </a:lnR>
                    <a:lnT w="6350">
                      <a:solidFill>
                        <a:srgbClr val="1C3A5A"/>
                      </a:solidFill>
                    </a:lnT>
                    <a:lnB w="6350">
                      <a:solidFill>
                        <a:srgbClr val="1C3A5A"/>
                      </a:solidFill>
                    </a:lnB>
                    <a:solidFill>
                      <a:srgbClr val="11224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</a:rPr>
                        <a:t>granola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1C3A5A"/>
                      </a:solidFill>
                    </a:lnL>
                    <a:lnR w="6350">
                      <a:solidFill>
                        <a:srgbClr val="1C3A5A"/>
                      </a:solidFill>
                    </a:lnR>
                    <a:lnT w="6350">
                      <a:solidFill>
                        <a:srgbClr val="1C3A5A"/>
                      </a:solidFill>
                    </a:lnT>
                    <a:lnB w="6350">
                      <a:solidFill>
                        <a:srgbClr val="1C3A5A"/>
                      </a:solidFill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</a:rPr>
                        <a:t>87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1C3A5A"/>
                      </a:solidFill>
                    </a:lnL>
                    <a:lnR w="6350">
                      <a:solidFill>
                        <a:srgbClr val="1C3A5A"/>
                      </a:solidFill>
                    </a:lnR>
                    <a:lnT w="6350">
                      <a:solidFill>
                        <a:srgbClr val="1C3A5A"/>
                      </a:solidFill>
                    </a:lnT>
                    <a:lnB w="6350">
                      <a:solidFill>
                        <a:srgbClr val="1C3A5A"/>
                      </a:solidFill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</a:rPr>
                        <a:t>15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1C3A5A"/>
                      </a:solidFill>
                    </a:lnL>
                    <a:lnR w="6350">
                      <a:solidFill>
                        <a:srgbClr val="1C3A5A"/>
                      </a:solidFill>
                    </a:lnR>
                    <a:lnT w="6350">
                      <a:solidFill>
                        <a:srgbClr val="1C3A5A"/>
                      </a:solidFill>
                    </a:lnT>
                    <a:lnB w="6350">
                      <a:solidFill>
                        <a:srgbClr val="1C3A5A"/>
                      </a:solidFill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</a:rPr>
                        <a:t>12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1C3A5A"/>
                      </a:solidFill>
                    </a:lnL>
                    <a:lnR w="6350">
                      <a:solidFill>
                        <a:srgbClr val="1C3A5A"/>
                      </a:solidFill>
                    </a:lnR>
                    <a:lnT w="6350">
                      <a:solidFill>
                        <a:srgbClr val="1C3A5A"/>
                      </a:solidFill>
                    </a:lnT>
                    <a:lnB w="6350">
                      <a:solidFill>
                        <a:srgbClr val="1C3A5A"/>
                      </a:solidFill>
                    </a:lnB>
                    <a:solidFill>
                      <a:srgbClr val="11224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</a:rPr>
                        <a:t>chocolate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1C3A5A"/>
                      </a:solidFill>
                    </a:lnL>
                    <a:lnR w="6350">
                      <a:solidFill>
                        <a:srgbClr val="1C3A5A"/>
                      </a:solidFill>
                    </a:lnR>
                    <a:lnT w="6350">
                      <a:solidFill>
                        <a:srgbClr val="1C3A5A"/>
                      </a:solidFill>
                    </a:lnT>
                    <a:lnB w="6350">
                      <a:solidFill>
                        <a:srgbClr val="1C3A5A"/>
                      </a:solidFill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</a:rPr>
                        <a:t>68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1C3A5A"/>
                      </a:solidFill>
                    </a:lnL>
                    <a:lnR w="6350">
                      <a:solidFill>
                        <a:srgbClr val="1C3A5A"/>
                      </a:solidFill>
                    </a:lnR>
                    <a:lnT w="6350">
                      <a:solidFill>
                        <a:srgbClr val="1C3A5A"/>
                      </a:solidFill>
                    </a:lnT>
                    <a:lnB w="6350">
                      <a:solidFill>
                        <a:srgbClr val="1C3A5A"/>
                      </a:solidFill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</a:rPr>
                        <a:t>21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1C3A5A"/>
                      </a:solidFill>
                    </a:lnL>
                    <a:lnR w="6350">
                      <a:solidFill>
                        <a:srgbClr val="1C3A5A"/>
                      </a:solidFill>
                    </a:lnR>
                    <a:lnT w="6350">
                      <a:solidFill>
                        <a:srgbClr val="1C3A5A"/>
                      </a:solidFill>
                    </a:lnT>
                    <a:lnB w="6350">
                      <a:solidFill>
                        <a:srgbClr val="1C3A5A"/>
                      </a:solidFill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</a:rPr>
                        <a:t>16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1C3A5A"/>
                      </a:solidFill>
                    </a:lnL>
                    <a:lnR w="6350">
                      <a:solidFill>
                        <a:srgbClr val="1C3A5A"/>
                      </a:solidFill>
                    </a:lnR>
                    <a:lnT w="6350">
                      <a:solidFill>
                        <a:srgbClr val="1C3A5A"/>
                      </a:solidFill>
                    </a:lnT>
                    <a:lnB w="6350">
                      <a:solidFill>
                        <a:srgbClr val="1C3A5A"/>
                      </a:solidFill>
                    </a:lnB>
                    <a:solidFill>
                      <a:srgbClr val="11224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</a:rPr>
                        <a:t>pen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1C3A5A"/>
                      </a:solidFill>
                    </a:lnL>
                    <a:lnR w="6350">
                      <a:solidFill>
                        <a:srgbClr val="1C3A5A"/>
                      </a:solidFill>
                    </a:lnR>
                    <a:lnT w="6350">
                      <a:solidFill>
                        <a:srgbClr val="1C3A5A"/>
                      </a:solidFill>
                    </a:lnT>
                    <a:lnB w="6350">
                      <a:solidFill>
                        <a:srgbClr val="1C3A5A"/>
                      </a:solidFill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</a:rPr>
                        <a:t>33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1C3A5A"/>
                      </a:solidFill>
                    </a:lnL>
                    <a:lnR w="6350">
                      <a:solidFill>
                        <a:srgbClr val="1C3A5A"/>
                      </a:solidFill>
                    </a:lnR>
                    <a:lnT w="6350">
                      <a:solidFill>
                        <a:srgbClr val="1C3A5A"/>
                      </a:solidFill>
                    </a:lnT>
                    <a:lnB w="6350">
                      <a:solidFill>
                        <a:srgbClr val="1C3A5A"/>
                      </a:solidFill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</a:rPr>
                        <a:t>8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1C3A5A"/>
                      </a:solidFill>
                    </a:lnL>
                    <a:lnR w="6350">
                      <a:solidFill>
                        <a:srgbClr val="1C3A5A"/>
                      </a:solidFill>
                    </a:lnR>
                    <a:lnT w="6350">
                      <a:solidFill>
                        <a:srgbClr val="1C3A5A"/>
                      </a:solidFill>
                    </a:lnT>
                    <a:lnB w="6350">
                      <a:solidFill>
                        <a:srgbClr val="1C3A5A"/>
                      </a:solidFill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</a:rPr>
                        <a:t>9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1C3A5A"/>
                      </a:solidFill>
                    </a:lnL>
                    <a:lnR w="6350">
                      <a:solidFill>
                        <a:srgbClr val="1C3A5A"/>
                      </a:solidFill>
                    </a:lnR>
                    <a:lnT w="6350">
                      <a:solidFill>
                        <a:srgbClr val="1C3A5A"/>
                      </a:solidFill>
                    </a:lnT>
                    <a:lnB w="6350">
                      <a:solidFill>
                        <a:srgbClr val="1C3A5A"/>
                      </a:solidFill>
                    </a:lnB>
                    <a:solidFill>
                      <a:srgbClr val="11224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</a:rPr>
                        <a:t>mouse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1C3A5A"/>
                      </a:solidFill>
                    </a:lnL>
                    <a:lnR w="6350">
                      <a:solidFill>
                        <a:srgbClr val="1C3A5A"/>
                      </a:solidFill>
                    </a:lnR>
                    <a:lnT w="6350">
                      <a:solidFill>
                        <a:srgbClr val="1C3A5A"/>
                      </a:solidFill>
                    </a:lnT>
                    <a:lnB w="6350">
                      <a:solidFill>
                        <a:srgbClr val="1C3A5A"/>
                      </a:solidFill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</a:rPr>
                        <a:t>18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1C3A5A"/>
                      </a:solidFill>
                    </a:lnL>
                    <a:lnR w="6350">
                      <a:solidFill>
                        <a:srgbClr val="1C3A5A"/>
                      </a:solidFill>
                    </a:lnR>
                    <a:lnT w="6350">
                      <a:solidFill>
                        <a:srgbClr val="1C3A5A"/>
                      </a:solidFill>
                    </a:lnT>
                    <a:lnB w="6350">
                      <a:solidFill>
                        <a:srgbClr val="1C3A5A"/>
                      </a:solidFill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1C3A5A"/>
                      </a:solidFill>
                    </a:lnL>
                    <a:lnR w="6350">
                      <a:solidFill>
                        <a:srgbClr val="1C3A5A"/>
                      </a:solidFill>
                    </a:lnR>
                    <a:lnT w="6350">
                      <a:solidFill>
                        <a:srgbClr val="1C3A5A"/>
                      </a:solidFill>
                    </a:lnT>
                    <a:lnB w="6350">
                      <a:solidFill>
                        <a:srgbClr val="1C3A5A"/>
                      </a:solidFill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FFFFFF"/>
                          </a:solidFill>
                        </a:rPr>
                        <a:t>2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1C3A5A"/>
                      </a:solidFill>
                    </a:lnL>
                    <a:lnR w="6350">
                      <a:solidFill>
                        <a:srgbClr val="1C3A5A"/>
                      </a:solidFill>
                    </a:lnR>
                    <a:lnT w="6350">
                      <a:solidFill>
                        <a:srgbClr val="1C3A5A"/>
                      </a:solidFill>
                    </a:lnT>
                    <a:lnB w="6350">
                      <a:solidFill>
                        <a:srgbClr val="1C3A5A"/>
                      </a:solidFill>
                    </a:lnB>
                    <a:solidFill>
                      <a:srgbClr val="1122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0"/>
          <p:cNvSpPr/>
          <p:nvPr/>
        </p:nvSpPr>
        <p:spPr>
          <a:xfrm>
            <a:off x="0" y="-1"/>
            <a:ext cx="9144000" cy="64008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4" name="Text 1"/>
          <p:cNvSpPr txBox="1"/>
          <p:nvPr/>
        </p:nvSpPr>
        <p:spPr>
          <a:xfrm>
            <a:off x="411479" y="101208"/>
            <a:ext cx="813816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Model &amp; Training</a:t>
            </a:r>
          </a:p>
        </p:txBody>
      </p:sp>
      <p:sp>
        <p:nvSpPr>
          <p:cNvPr id="85" name="Shape 2"/>
          <p:cNvSpPr/>
          <p:nvPr/>
        </p:nvSpPr>
        <p:spPr>
          <a:xfrm>
            <a:off x="320040" y="822960"/>
            <a:ext cx="3840480" cy="3931921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6" name="Text 3"/>
          <p:cNvSpPr txBox="1"/>
          <p:nvPr/>
        </p:nvSpPr>
        <p:spPr>
          <a:xfrm>
            <a:off x="365760" y="992748"/>
            <a:ext cx="3749040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600">
                <a:solidFill>
                  <a:srgbClr val="00C896"/>
                </a:solidFill>
              </a:defRPr>
            </a:lvl1pPr>
          </a:lstStyle>
          <a:p>
            <a:pPr/>
            <a:r>
              <a:t>YOLOv8n-seg</a:t>
            </a:r>
          </a:p>
        </p:txBody>
      </p:sp>
      <p:sp>
        <p:nvSpPr>
          <p:cNvPr id="87" name="Shape 4"/>
          <p:cNvSpPr/>
          <p:nvPr/>
        </p:nvSpPr>
        <p:spPr>
          <a:xfrm>
            <a:off x="457199" y="1600200"/>
            <a:ext cx="3566161" cy="47548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8" name="Text 5"/>
          <p:cNvSpPr txBox="1"/>
          <p:nvPr/>
        </p:nvSpPr>
        <p:spPr>
          <a:xfrm>
            <a:off x="594359" y="1725089"/>
            <a:ext cx="155448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8BAFC4"/>
                </a:solidFill>
              </a:defRPr>
            </a:lvl1pPr>
          </a:lstStyle>
          <a:p>
            <a:pPr/>
            <a:r>
              <a:t>Parameters</a:t>
            </a:r>
          </a:p>
        </p:txBody>
      </p:sp>
      <p:sp>
        <p:nvSpPr>
          <p:cNvPr id="89" name="Text 6"/>
          <p:cNvSpPr txBox="1"/>
          <p:nvPr/>
        </p:nvSpPr>
        <p:spPr>
          <a:xfrm>
            <a:off x="2240280" y="1725089"/>
            <a:ext cx="173736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3.26M</a:t>
            </a:r>
          </a:p>
        </p:txBody>
      </p:sp>
      <p:sp>
        <p:nvSpPr>
          <p:cNvPr id="90" name="Shape 7"/>
          <p:cNvSpPr/>
          <p:nvPr/>
        </p:nvSpPr>
        <p:spPr>
          <a:xfrm>
            <a:off x="457199" y="2167127"/>
            <a:ext cx="3566161" cy="475489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1" name="Text 8"/>
          <p:cNvSpPr txBox="1"/>
          <p:nvPr/>
        </p:nvSpPr>
        <p:spPr>
          <a:xfrm>
            <a:off x="594359" y="2292017"/>
            <a:ext cx="155448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8BAFC4"/>
                </a:solidFill>
              </a:defRPr>
            </a:lvl1pPr>
          </a:lstStyle>
          <a:p>
            <a:pPr/>
            <a:r>
              <a:t>GFLOPs</a:t>
            </a:r>
          </a:p>
        </p:txBody>
      </p:sp>
      <p:sp>
        <p:nvSpPr>
          <p:cNvPr id="92" name="Text 9"/>
          <p:cNvSpPr txBox="1"/>
          <p:nvPr/>
        </p:nvSpPr>
        <p:spPr>
          <a:xfrm>
            <a:off x="2240280" y="2292017"/>
            <a:ext cx="173736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11.5</a:t>
            </a:r>
          </a:p>
        </p:txBody>
      </p:sp>
      <p:sp>
        <p:nvSpPr>
          <p:cNvPr id="93" name="Shape 10"/>
          <p:cNvSpPr/>
          <p:nvPr/>
        </p:nvSpPr>
        <p:spPr>
          <a:xfrm>
            <a:off x="457199" y="2734055"/>
            <a:ext cx="3566161" cy="47548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4" name="Text 11"/>
          <p:cNvSpPr txBox="1"/>
          <p:nvPr/>
        </p:nvSpPr>
        <p:spPr>
          <a:xfrm>
            <a:off x="594359" y="2858945"/>
            <a:ext cx="155448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8BAFC4"/>
                </a:solidFill>
              </a:defRPr>
            </a:lvl1pPr>
          </a:lstStyle>
          <a:p>
            <a:pPr/>
            <a:r>
              <a:t>Backbone</a:t>
            </a:r>
          </a:p>
        </p:txBody>
      </p:sp>
      <p:sp>
        <p:nvSpPr>
          <p:cNvPr id="95" name="Text 12"/>
          <p:cNvSpPr txBox="1"/>
          <p:nvPr/>
        </p:nvSpPr>
        <p:spPr>
          <a:xfrm>
            <a:off x="2240280" y="2858945"/>
            <a:ext cx="173736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CSP + PANet neck</a:t>
            </a:r>
          </a:p>
        </p:txBody>
      </p:sp>
      <p:sp>
        <p:nvSpPr>
          <p:cNvPr id="96" name="Shape 13"/>
          <p:cNvSpPr/>
          <p:nvPr/>
        </p:nvSpPr>
        <p:spPr>
          <a:xfrm>
            <a:off x="457199" y="3300984"/>
            <a:ext cx="3566161" cy="47548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7" name="Text 14"/>
          <p:cNvSpPr txBox="1"/>
          <p:nvPr/>
        </p:nvSpPr>
        <p:spPr>
          <a:xfrm>
            <a:off x="594359" y="3425873"/>
            <a:ext cx="155448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8BAFC4"/>
                </a:solidFill>
              </a:defRPr>
            </a:lvl1pPr>
          </a:lstStyle>
          <a:p>
            <a:pPr/>
            <a:r>
              <a:t>Base Weights</a:t>
            </a:r>
          </a:p>
        </p:txBody>
      </p:sp>
      <p:sp>
        <p:nvSpPr>
          <p:cNvPr id="98" name="Text 15"/>
          <p:cNvSpPr txBox="1"/>
          <p:nvPr/>
        </p:nvSpPr>
        <p:spPr>
          <a:xfrm>
            <a:off x="2240280" y="3425873"/>
            <a:ext cx="173736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ImageNet Pretrained</a:t>
            </a:r>
          </a:p>
        </p:txBody>
      </p:sp>
      <p:sp>
        <p:nvSpPr>
          <p:cNvPr id="99" name="Shape 16"/>
          <p:cNvSpPr/>
          <p:nvPr/>
        </p:nvSpPr>
        <p:spPr>
          <a:xfrm>
            <a:off x="457199" y="3867911"/>
            <a:ext cx="3566161" cy="47548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0" name="Text 17"/>
          <p:cNvSpPr txBox="1"/>
          <p:nvPr/>
        </p:nvSpPr>
        <p:spPr>
          <a:xfrm>
            <a:off x="594359" y="3992801"/>
            <a:ext cx="1554482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8BAFC4"/>
                </a:solidFill>
              </a:defRPr>
            </a:lvl1pPr>
          </a:lstStyle>
          <a:p>
            <a:pPr/>
            <a:r>
              <a:t>Task</a:t>
            </a:r>
          </a:p>
        </p:txBody>
      </p:sp>
      <p:sp>
        <p:nvSpPr>
          <p:cNvPr id="101" name="Text 18"/>
          <p:cNvSpPr txBox="1"/>
          <p:nvPr/>
        </p:nvSpPr>
        <p:spPr>
          <a:xfrm>
            <a:off x="2240280" y="3992801"/>
            <a:ext cx="173736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Instance Segmentation</a:t>
            </a:r>
          </a:p>
        </p:txBody>
      </p:sp>
      <p:sp>
        <p:nvSpPr>
          <p:cNvPr id="102" name="Text 19"/>
          <p:cNvSpPr txBox="1"/>
          <p:nvPr/>
        </p:nvSpPr>
        <p:spPr>
          <a:xfrm>
            <a:off x="4617720" y="855543"/>
            <a:ext cx="4023360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600">
                <a:solidFill>
                  <a:srgbClr val="E8F4F8"/>
                </a:solidFill>
              </a:defRPr>
            </a:lvl1pPr>
          </a:lstStyle>
          <a:p>
            <a:pPr/>
            <a:r>
              <a:t>Training Setup</a:t>
            </a:r>
          </a:p>
        </p:txBody>
      </p:sp>
      <p:sp>
        <p:nvSpPr>
          <p:cNvPr id="103" name="Shape 20"/>
          <p:cNvSpPr/>
          <p:nvPr/>
        </p:nvSpPr>
        <p:spPr>
          <a:xfrm>
            <a:off x="4572000" y="1280160"/>
            <a:ext cx="4206241" cy="502920"/>
          </a:xfrm>
          <a:prstGeom prst="rect">
            <a:avLst/>
          </a:prstGeom>
          <a:solidFill>
            <a:srgbClr val="112240"/>
          </a:solidFill>
          <a:ln w="12700">
            <a:solidFill>
              <a:srgbClr val="0D213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4" name="Shape 21"/>
          <p:cNvSpPr/>
          <p:nvPr/>
        </p:nvSpPr>
        <p:spPr>
          <a:xfrm>
            <a:off x="4572000" y="1280160"/>
            <a:ext cx="45721" cy="5029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5" name="Text 22"/>
          <p:cNvSpPr txBox="1"/>
          <p:nvPr/>
        </p:nvSpPr>
        <p:spPr>
          <a:xfrm>
            <a:off x="4754879" y="1418765"/>
            <a:ext cx="128016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8BAFC4"/>
                </a:solidFill>
              </a:defRPr>
            </a:lvl1pPr>
          </a:lstStyle>
          <a:p>
            <a:pPr/>
            <a:r>
              <a:t>Platform:</a:t>
            </a:r>
          </a:p>
        </p:txBody>
      </p:sp>
      <p:sp>
        <p:nvSpPr>
          <p:cNvPr id="106" name="Text 23"/>
          <p:cNvSpPr txBox="1"/>
          <p:nvPr/>
        </p:nvSpPr>
        <p:spPr>
          <a:xfrm>
            <a:off x="6126479" y="1418765"/>
            <a:ext cx="256032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Google Colab (Tesla T4 GPU)</a:t>
            </a:r>
          </a:p>
        </p:txBody>
      </p:sp>
      <p:sp>
        <p:nvSpPr>
          <p:cNvPr id="107" name="Shape 24"/>
          <p:cNvSpPr/>
          <p:nvPr/>
        </p:nvSpPr>
        <p:spPr>
          <a:xfrm>
            <a:off x="4572000" y="1901951"/>
            <a:ext cx="4206241" cy="502920"/>
          </a:xfrm>
          <a:prstGeom prst="rect">
            <a:avLst/>
          </a:prstGeom>
          <a:solidFill>
            <a:srgbClr val="112240"/>
          </a:solidFill>
          <a:ln w="12700">
            <a:solidFill>
              <a:srgbClr val="0D213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8" name="Shape 25"/>
          <p:cNvSpPr/>
          <p:nvPr/>
        </p:nvSpPr>
        <p:spPr>
          <a:xfrm>
            <a:off x="4572000" y="1901951"/>
            <a:ext cx="45721" cy="5029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9" name="Text 26"/>
          <p:cNvSpPr txBox="1"/>
          <p:nvPr/>
        </p:nvSpPr>
        <p:spPr>
          <a:xfrm>
            <a:off x="4754879" y="2040557"/>
            <a:ext cx="128016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8BAFC4"/>
                </a:solidFill>
              </a:defRPr>
            </a:lvl1pPr>
          </a:lstStyle>
          <a:p>
            <a:pPr/>
            <a:r>
              <a:t>Epochs:</a:t>
            </a:r>
          </a:p>
        </p:txBody>
      </p:sp>
      <p:sp>
        <p:nvSpPr>
          <p:cNvPr id="110" name="Text 27"/>
          <p:cNvSpPr txBox="1"/>
          <p:nvPr/>
        </p:nvSpPr>
        <p:spPr>
          <a:xfrm>
            <a:off x="6126479" y="2040557"/>
            <a:ext cx="256032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65 (early stopped, patience=15)</a:t>
            </a:r>
          </a:p>
        </p:txBody>
      </p:sp>
      <p:sp>
        <p:nvSpPr>
          <p:cNvPr id="111" name="Shape 28"/>
          <p:cNvSpPr/>
          <p:nvPr/>
        </p:nvSpPr>
        <p:spPr>
          <a:xfrm>
            <a:off x="4572000" y="2523744"/>
            <a:ext cx="4206241" cy="502920"/>
          </a:xfrm>
          <a:prstGeom prst="rect">
            <a:avLst/>
          </a:prstGeom>
          <a:solidFill>
            <a:srgbClr val="112240"/>
          </a:solidFill>
          <a:ln w="12700">
            <a:solidFill>
              <a:srgbClr val="0D213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2" name="Shape 29"/>
          <p:cNvSpPr/>
          <p:nvPr/>
        </p:nvSpPr>
        <p:spPr>
          <a:xfrm>
            <a:off x="4572000" y="2523744"/>
            <a:ext cx="45721" cy="5029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3" name="Text 30"/>
          <p:cNvSpPr txBox="1"/>
          <p:nvPr/>
        </p:nvSpPr>
        <p:spPr>
          <a:xfrm>
            <a:off x="4754879" y="2662349"/>
            <a:ext cx="128016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8BAFC4"/>
                </a:solidFill>
              </a:defRPr>
            </a:lvl1pPr>
          </a:lstStyle>
          <a:p>
            <a:pPr/>
            <a:r>
              <a:t>Best Epoch:</a:t>
            </a:r>
          </a:p>
        </p:txBody>
      </p:sp>
      <p:sp>
        <p:nvSpPr>
          <p:cNvPr id="114" name="Text 31"/>
          <p:cNvSpPr txBox="1"/>
          <p:nvPr/>
        </p:nvSpPr>
        <p:spPr>
          <a:xfrm>
            <a:off x="6126479" y="2662349"/>
            <a:ext cx="256032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Epoch 50  |  Batch: 8  |  Image: 640×640</a:t>
            </a:r>
          </a:p>
        </p:txBody>
      </p:sp>
      <p:sp>
        <p:nvSpPr>
          <p:cNvPr id="115" name="Shape 32"/>
          <p:cNvSpPr/>
          <p:nvPr/>
        </p:nvSpPr>
        <p:spPr>
          <a:xfrm>
            <a:off x="4572000" y="3145535"/>
            <a:ext cx="4206241" cy="502920"/>
          </a:xfrm>
          <a:prstGeom prst="rect">
            <a:avLst/>
          </a:prstGeom>
          <a:solidFill>
            <a:srgbClr val="112240"/>
          </a:solidFill>
          <a:ln w="12700">
            <a:solidFill>
              <a:srgbClr val="0D213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6" name="Shape 33"/>
          <p:cNvSpPr/>
          <p:nvPr/>
        </p:nvSpPr>
        <p:spPr>
          <a:xfrm>
            <a:off x="4572000" y="3145535"/>
            <a:ext cx="45721" cy="5029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7" name="Text 34"/>
          <p:cNvSpPr txBox="1"/>
          <p:nvPr/>
        </p:nvSpPr>
        <p:spPr>
          <a:xfrm>
            <a:off x="4754879" y="3284141"/>
            <a:ext cx="128016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8BAFC4"/>
                </a:solidFill>
              </a:defRPr>
            </a:lvl1pPr>
          </a:lstStyle>
          <a:p>
            <a:pPr/>
            <a:r>
              <a:t>Optimizer:</a:t>
            </a:r>
          </a:p>
        </p:txBody>
      </p:sp>
      <p:sp>
        <p:nvSpPr>
          <p:cNvPr id="118" name="Text 35"/>
          <p:cNvSpPr txBox="1"/>
          <p:nvPr/>
        </p:nvSpPr>
        <p:spPr>
          <a:xfrm>
            <a:off x="6126479" y="3284141"/>
            <a:ext cx="256032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AdamW  (lr=0.001111, wd=0.0005)</a:t>
            </a:r>
          </a:p>
        </p:txBody>
      </p:sp>
      <p:sp>
        <p:nvSpPr>
          <p:cNvPr id="119" name="Shape 36"/>
          <p:cNvSpPr/>
          <p:nvPr/>
        </p:nvSpPr>
        <p:spPr>
          <a:xfrm>
            <a:off x="4572000" y="3767328"/>
            <a:ext cx="4206241" cy="502920"/>
          </a:xfrm>
          <a:prstGeom prst="rect">
            <a:avLst/>
          </a:prstGeom>
          <a:solidFill>
            <a:srgbClr val="112240"/>
          </a:solidFill>
          <a:ln w="12700">
            <a:solidFill>
              <a:srgbClr val="0D213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0" name="Shape 37"/>
          <p:cNvSpPr/>
          <p:nvPr/>
        </p:nvSpPr>
        <p:spPr>
          <a:xfrm>
            <a:off x="4572000" y="3767328"/>
            <a:ext cx="45721" cy="5029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1" name="Text 38"/>
          <p:cNvSpPr txBox="1"/>
          <p:nvPr/>
        </p:nvSpPr>
        <p:spPr>
          <a:xfrm>
            <a:off x="4754879" y="3905933"/>
            <a:ext cx="128016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8BAFC4"/>
                </a:solidFill>
              </a:defRPr>
            </a:lvl1pPr>
          </a:lstStyle>
          <a:p>
            <a:pPr/>
            <a:r>
              <a:t>Augmentation:</a:t>
            </a:r>
          </a:p>
        </p:txBody>
      </p:sp>
      <p:sp>
        <p:nvSpPr>
          <p:cNvPr id="122" name="Text 39"/>
          <p:cNvSpPr txBox="1"/>
          <p:nvPr/>
        </p:nvSpPr>
        <p:spPr>
          <a:xfrm>
            <a:off x="6126479" y="3905933"/>
            <a:ext cx="256032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Flip, HSV, Mosaic, Erase, Blur, CLAHE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0"/>
          <p:cNvSpPr/>
          <p:nvPr/>
        </p:nvSpPr>
        <p:spPr>
          <a:xfrm>
            <a:off x="0" y="-1"/>
            <a:ext cx="9144000" cy="64008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5" name="Text 1"/>
          <p:cNvSpPr txBox="1"/>
          <p:nvPr/>
        </p:nvSpPr>
        <p:spPr>
          <a:xfrm>
            <a:off x="411479" y="101208"/>
            <a:ext cx="813816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Results</a:t>
            </a:r>
          </a:p>
        </p:txBody>
      </p:sp>
      <p:sp>
        <p:nvSpPr>
          <p:cNvPr id="126" name="Shape 2"/>
          <p:cNvSpPr/>
          <p:nvPr/>
        </p:nvSpPr>
        <p:spPr>
          <a:xfrm>
            <a:off x="320040" y="822960"/>
            <a:ext cx="2743201" cy="1828801"/>
          </a:xfrm>
          <a:prstGeom prst="rect">
            <a:avLst/>
          </a:prstGeom>
          <a:solidFill>
            <a:srgbClr val="112240"/>
          </a:solidFill>
          <a:ln w="254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7" name="Text 3"/>
          <p:cNvSpPr txBox="1"/>
          <p:nvPr/>
        </p:nvSpPr>
        <p:spPr>
          <a:xfrm>
            <a:off x="365760" y="1044425"/>
            <a:ext cx="2651761" cy="7457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5200">
                <a:solidFill>
                  <a:srgbClr val="00C896"/>
                </a:solidFill>
              </a:defRPr>
            </a:lvl1pPr>
          </a:lstStyle>
          <a:p>
            <a:pPr/>
            <a:r>
              <a:t>88.7%</a:t>
            </a:r>
          </a:p>
        </p:txBody>
      </p:sp>
      <p:sp>
        <p:nvSpPr>
          <p:cNvPr id="128" name="Text 4"/>
          <p:cNvSpPr txBox="1"/>
          <p:nvPr/>
        </p:nvSpPr>
        <p:spPr>
          <a:xfrm>
            <a:off x="365760" y="2009578"/>
            <a:ext cx="2651761" cy="46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defRPr sz="1300">
                <a:solidFill>
                  <a:srgbClr val="E8F4F8"/>
                </a:solidFill>
              </a:defRPr>
            </a:pPr>
            <a:r>
              <a:t>Mask mAP@50</a:t>
            </a:r>
          </a:p>
          <a:p>
            <a:pPr algn="ctr">
              <a:defRPr sz="1300">
                <a:solidFill>
                  <a:srgbClr val="E8F4F8"/>
                </a:solidFill>
              </a:defRPr>
            </a:pPr>
            <a:r>
              <a:t>(Test Set)</a:t>
            </a:r>
          </a:p>
        </p:txBody>
      </p:sp>
      <p:sp>
        <p:nvSpPr>
          <p:cNvPr id="129" name="Text 5"/>
          <p:cNvSpPr txBox="1"/>
          <p:nvPr/>
        </p:nvSpPr>
        <p:spPr>
          <a:xfrm>
            <a:off x="3429000" y="867595"/>
            <a:ext cx="5394960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300">
                <a:solidFill>
                  <a:srgbClr val="E8F4F8"/>
                </a:solidFill>
              </a:defRPr>
            </a:lvl1pPr>
          </a:lstStyle>
          <a:p>
            <a:pPr/>
            <a:r>
              <a:t>Per-Class Performance (Mask mAP@50)</a:t>
            </a:r>
          </a:p>
        </p:txBody>
      </p:sp>
      <p:sp>
        <p:nvSpPr>
          <p:cNvPr id="130" name="Text 6"/>
          <p:cNvSpPr txBox="1"/>
          <p:nvPr/>
        </p:nvSpPr>
        <p:spPr>
          <a:xfrm>
            <a:off x="3429000" y="1331898"/>
            <a:ext cx="109728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E8F4F8"/>
                </a:solidFill>
              </a:defRPr>
            </a:lvl1pPr>
          </a:lstStyle>
          <a:p>
            <a:pPr/>
            <a:r>
              <a:t>mouse</a:t>
            </a:r>
          </a:p>
        </p:txBody>
      </p:sp>
      <p:sp>
        <p:nvSpPr>
          <p:cNvPr id="131" name="Shape 7"/>
          <p:cNvSpPr/>
          <p:nvPr/>
        </p:nvSpPr>
        <p:spPr>
          <a:xfrm>
            <a:off x="4663440" y="1316736"/>
            <a:ext cx="3639313" cy="23774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2" name="Text 8"/>
          <p:cNvSpPr txBox="1"/>
          <p:nvPr/>
        </p:nvSpPr>
        <p:spPr>
          <a:xfrm>
            <a:off x="8458200" y="1330496"/>
            <a:ext cx="54864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8BAFC4"/>
                </a:solidFill>
              </a:defRPr>
            </a:lvl1pPr>
          </a:lstStyle>
          <a:p>
            <a:pPr/>
            <a:r>
              <a:t>99.5%</a:t>
            </a:r>
          </a:p>
        </p:txBody>
      </p:sp>
      <p:sp>
        <p:nvSpPr>
          <p:cNvPr id="133" name="Text 9"/>
          <p:cNvSpPr txBox="1"/>
          <p:nvPr/>
        </p:nvSpPr>
        <p:spPr>
          <a:xfrm>
            <a:off x="3429000" y="1770810"/>
            <a:ext cx="109728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E8F4F8"/>
                </a:solidFill>
              </a:defRPr>
            </a:lvl1pPr>
          </a:lstStyle>
          <a:p>
            <a:pPr/>
            <a:r>
              <a:t>granola</a:t>
            </a:r>
          </a:p>
        </p:txBody>
      </p:sp>
      <p:sp>
        <p:nvSpPr>
          <p:cNvPr id="134" name="Shape 10"/>
          <p:cNvSpPr/>
          <p:nvPr/>
        </p:nvSpPr>
        <p:spPr>
          <a:xfrm>
            <a:off x="4663440" y="1755648"/>
            <a:ext cx="3628340" cy="23774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5" name="Text 11"/>
          <p:cNvSpPr txBox="1"/>
          <p:nvPr/>
        </p:nvSpPr>
        <p:spPr>
          <a:xfrm>
            <a:off x="8458200" y="1769408"/>
            <a:ext cx="54864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8BAFC4"/>
                </a:solidFill>
              </a:defRPr>
            </a:lvl1pPr>
          </a:lstStyle>
          <a:p>
            <a:pPr/>
            <a:r>
              <a:t>99.2%</a:t>
            </a:r>
          </a:p>
        </p:txBody>
      </p:sp>
      <p:sp>
        <p:nvSpPr>
          <p:cNvPr id="136" name="Text 12"/>
          <p:cNvSpPr txBox="1"/>
          <p:nvPr/>
        </p:nvSpPr>
        <p:spPr>
          <a:xfrm>
            <a:off x="3429000" y="2209721"/>
            <a:ext cx="109728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E8F4F8"/>
                </a:solidFill>
              </a:defRPr>
            </a:lvl1pPr>
          </a:lstStyle>
          <a:p>
            <a:pPr/>
            <a:r>
              <a:t>waterbottle</a:t>
            </a:r>
          </a:p>
        </p:txBody>
      </p:sp>
      <p:sp>
        <p:nvSpPr>
          <p:cNvPr id="137" name="Shape 13"/>
          <p:cNvSpPr/>
          <p:nvPr/>
        </p:nvSpPr>
        <p:spPr>
          <a:xfrm>
            <a:off x="4663440" y="2194560"/>
            <a:ext cx="3602737" cy="23774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8" name="Text 14"/>
          <p:cNvSpPr txBox="1"/>
          <p:nvPr/>
        </p:nvSpPr>
        <p:spPr>
          <a:xfrm>
            <a:off x="8458200" y="2208320"/>
            <a:ext cx="54864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8BAFC4"/>
                </a:solidFill>
              </a:defRPr>
            </a:lvl1pPr>
          </a:lstStyle>
          <a:p>
            <a:pPr/>
            <a:r>
              <a:t>98.5%</a:t>
            </a:r>
          </a:p>
        </p:txBody>
      </p:sp>
      <p:sp>
        <p:nvSpPr>
          <p:cNvPr id="139" name="Text 15"/>
          <p:cNvSpPr txBox="1"/>
          <p:nvPr/>
        </p:nvSpPr>
        <p:spPr>
          <a:xfrm>
            <a:off x="3429000" y="2648633"/>
            <a:ext cx="109728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E8F4F8"/>
                </a:solidFill>
              </a:defRPr>
            </a:lvl1pPr>
          </a:lstStyle>
          <a:p>
            <a:pPr/>
            <a:r>
              <a:t>chocolate</a:t>
            </a:r>
          </a:p>
        </p:txBody>
      </p:sp>
      <p:sp>
        <p:nvSpPr>
          <p:cNvPr id="140" name="Shape 16"/>
          <p:cNvSpPr/>
          <p:nvPr/>
        </p:nvSpPr>
        <p:spPr>
          <a:xfrm>
            <a:off x="4663440" y="2633472"/>
            <a:ext cx="3152852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1" name="Text 17"/>
          <p:cNvSpPr txBox="1"/>
          <p:nvPr/>
        </p:nvSpPr>
        <p:spPr>
          <a:xfrm>
            <a:off x="8458200" y="2647232"/>
            <a:ext cx="54864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8BAFC4"/>
                </a:solidFill>
              </a:defRPr>
            </a:lvl1pPr>
          </a:lstStyle>
          <a:p>
            <a:pPr/>
            <a:r>
              <a:t>86.2%</a:t>
            </a:r>
          </a:p>
        </p:txBody>
      </p:sp>
      <p:sp>
        <p:nvSpPr>
          <p:cNvPr id="142" name="Text 18"/>
          <p:cNvSpPr txBox="1"/>
          <p:nvPr/>
        </p:nvSpPr>
        <p:spPr>
          <a:xfrm>
            <a:off x="3429000" y="3087546"/>
            <a:ext cx="109728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E8F4F8"/>
                </a:solidFill>
              </a:defRPr>
            </a:lvl1pPr>
          </a:lstStyle>
          <a:p>
            <a:pPr/>
            <a:r>
              <a:t>pen</a:t>
            </a:r>
          </a:p>
        </p:txBody>
      </p:sp>
      <p:sp>
        <p:nvSpPr>
          <p:cNvPr id="143" name="Shape 19"/>
          <p:cNvSpPr/>
          <p:nvPr/>
        </p:nvSpPr>
        <p:spPr>
          <a:xfrm>
            <a:off x="4663440" y="3072383"/>
            <a:ext cx="2198219" cy="23774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4" name="Text 20"/>
          <p:cNvSpPr txBox="1"/>
          <p:nvPr/>
        </p:nvSpPr>
        <p:spPr>
          <a:xfrm>
            <a:off x="8458200" y="3086144"/>
            <a:ext cx="54864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8BAFC4"/>
                </a:solidFill>
              </a:defRPr>
            </a:lvl1pPr>
          </a:lstStyle>
          <a:p>
            <a:pPr/>
            <a:r>
              <a:t>60.1%</a:t>
            </a:r>
          </a:p>
        </p:txBody>
      </p:sp>
      <p:sp>
        <p:nvSpPr>
          <p:cNvPr id="145" name="Shape 21"/>
          <p:cNvSpPr/>
          <p:nvPr/>
        </p:nvSpPr>
        <p:spPr>
          <a:xfrm>
            <a:off x="320040" y="3611879"/>
            <a:ext cx="8503920" cy="777241"/>
          </a:xfrm>
          <a:prstGeom prst="rect">
            <a:avLst/>
          </a:prstGeom>
          <a:solidFill>
            <a:srgbClr val="112240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6" name="Shape 22"/>
          <p:cNvSpPr/>
          <p:nvPr/>
        </p:nvSpPr>
        <p:spPr>
          <a:xfrm>
            <a:off x="320040" y="3611879"/>
            <a:ext cx="54865" cy="777241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7" name="Text 23"/>
          <p:cNvSpPr txBox="1"/>
          <p:nvPr/>
        </p:nvSpPr>
        <p:spPr>
          <a:xfrm>
            <a:off x="548639" y="3805096"/>
            <a:ext cx="8138161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E8F4F8"/>
                </a:solidFill>
              </a:defRPr>
            </a:lvl1pPr>
          </a:lstStyle>
          <a:p>
            <a:pPr/>
            <a:r>
              <a:t>Key Insight: Performance correlates with training data size. Pen (60.1%) and Mouse (99.5%) show the range. More data for pen would close the gap.</a:t>
            </a:r>
          </a:p>
        </p:txBody>
      </p:sp>
      <p:sp>
        <p:nvSpPr>
          <p:cNvPr id="148" name="Text 24"/>
          <p:cNvSpPr txBox="1"/>
          <p:nvPr/>
        </p:nvSpPr>
        <p:spPr>
          <a:xfrm>
            <a:off x="365760" y="4527726"/>
            <a:ext cx="8412480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100">
                <a:solidFill>
                  <a:srgbClr val="00C896"/>
                </a:solidFill>
              </a:defRPr>
            </a:lvl1pPr>
          </a:lstStyle>
          <a:p>
            <a:pPr/>
            <a:r>
              <a:t>Performance correlates with training data size — more data → higher accuracy.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0"/>
          <p:cNvSpPr/>
          <p:nvPr/>
        </p:nvSpPr>
        <p:spPr>
          <a:xfrm>
            <a:off x="0" y="-1"/>
            <a:ext cx="9144000" cy="64008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1" name="Text 1"/>
          <p:cNvSpPr txBox="1"/>
          <p:nvPr/>
        </p:nvSpPr>
        <p:spPr>
          <a:xfrm>
            <a:off x="411479" y="101208"/>
            <a:ext cx="813816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TensorRT Optimization</a:t>
            </a:r>
          </a:p>
        </p:txBody>
      </p:sp>
      <p:sp>
        <p:nvSpPr>
          <p:cNvPr id="152" name="Shape 2"/>
          <p:cNvSpPr/>
          <p:nvPr/>
        </p:nvSpPr>
        <p:spPr>
          <a:xfrm>
            <a:off x="3200400" y="777240"/>
            <a:ext cx="2743200" cy="914401"/>
          </a:xfrm>
          <a:prstGeom prst="rect">
            <a:avLst/>
          </a:prstGeom>
          <a:solidFill>
            <a:srgbClr val="112240"/>
          </a:solidFill>
          <a:ln w="254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3" name="Text 3"/>
          <p:cNvSpPr txBox="1"/>
          <p:nvPr/>
        </p:nvSpPr>
        <p:spPr>
          <a:xfrm>
            <a:off x="3246120" y="803036"/>
            <a:ext cx="26517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3200">
                <a:solidFill>
                  <a:srgbClr val="00C896"/>
                </a:solidFill>
              </a:defRPr>
            </a:lvl1pPr>
          </a:lstStyle>
          <a:p>
            <a:pPr/>
            <a:r>
              <a:t>3.93× Speedup</a:t>
            </a:r>
          </a:p>
        </p:txBody>
      </p:sp>
      <p:sp>
        <p:nvSpPr>
          <p:cNvPr id="154" name="Text 4"/>
          <p:cNvSpPr txBox="1"/>
          <p:nvPr/>
        </p:nvSpPr>
        <p:spPr>
          <a:xfrm>
            <a:off x="3246120" y="1313093"/>
            <a:ext cx="2651761" cy="345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8BAFC4"/>
                </a:solidFill>
              </a:defRPr>
            </a:lvl1pPr>
          </a:lstStyle>
          <a:p>
            <a:pPr/>
            <a:r>
              <a:t>TensorRT FP16 vs PyTorch GPU · measured over 100 frames</a:t>
            </a:r>
          </a:p>
        </p:txBody>
      </p:sp>
      <p:sp>
        <p:nvSpPr>
          <p:cNvPr id="155" name="Shape 5"/>
          <p:cNvSpPr/>
          <p:nvPr/>
        </p:nvSpPr>
        <p:spPr>
          <a:xfrm>
            <a:off x="457199" y="1828800"/>
            <a:ext cx="4206242" cy="2560321"/>
          </a:xfrm>
          <a:prstGeom prst="rect">
            <a:avLst/>
          </a:prstGeom>
          <a:solidFill>
            <a:srgbClr val="112240"/>
          </a:solidFill>
          <a:ln w="2540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6" name="Text 6"/>
          <p:cNvSpPr txBox="1"/>
          <p:nvPr/>
        </p:nvSpPr>
        <p:spPr>
          <a:xfrm>
            <a:off x="502919" y="2001608"/>
            <a:ext cx="4114801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000">
                <a:solidFill>
                  <a:srgbClr val="F59E0B"/>
                </a:solidFill>
              </a:defRPr>
            </a:lvl1pPr>
          </a:lstStyle>
          <a:p>
            <a:pPr/>
            <a:r>
              <a:t>PyTorch (GPU)</a:t>
            </a:r>
          </a:p>
        </p:txBody>
      </p:sp>
      <p:sp>
        <p:nvSpPr>
          <p:cNvPr id="157" name="Text 7"/>
          <p:cNvSpPr txBox="1"/>
          <p:nvPr/>
        </p:nvSpPr>
        <p:spPr>
          <a:xfrm>
            <a:off x="502919" y="2540441"/>
            <a:ext cx="4114801" cy="6341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4200">
                <a:solidFill>
                  <a:srgbClr val="FFFFFF"/>
                </a:solidFill>
              </a:defRPr>
            </a:lvl1pPr>
          </a:lstStyle>
          <a:p>
            <a:pPr/>
            <a:r>
              <a:t>63.35 ms</a:t>
            </a:r>
          </a:p>
        </p:txBody>
      </p:sp>
      <p:sp>
        <p:nvSpPr>
          <p:cNvPr id="158" name="Text 8"/>
          <p:cNvSpPr txBox="1"/>
          <p:nvPr/>
        </p:nvSpPr>
        <p:spPr>
          <a:xfrm>
            <a:off x="502919" y="3270426"/>
            <a:ext cx="41148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>
                <a:solidFill>
                  <a:srgbClr val="8BAFC4"/>
                </a:solidFill>
              </a:defRPr>
            </a:lvl1pPr>
          </a:lstStyle>
          <a:p>
            <a:pPr/>
            <a:r>
              <a:t>Latency</a:t>
            </a:r>
          </a:p>
        </p:txBody>
      </p:sp>
      <p:sp>
        <p:nvSpPr>
          <p:cNvPr id="159" name="Text 9"/>
          <p:cNvSpPr txBox="1"/>
          <p:nvPr/>
        </p:nvSpPr>
        <p:spPr>
          <a:xfrm>
            <a:off x="502919" y="3533492"/>
            <a:ext cx="4114801" cy="385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200">
                <a:solidFill>
                  <a:srgbClr val="F59E0B"/>
                </a:solidFill>
              </a:defRPr>
            </a:lvl1pPr>
          </a:lstStyle>
          <a:p>
            <a:pPr/>
            <a:r>
              <a:t>15.8 FPS</a:t>
            </a:r>
          </a:p>
        </p:txBody>
      </p:sp>
      <p:sp>
        <p:nvSpPr>
          <p:cNvPr id="160" name="Text 10"/>
          <p:cNvSpPr txBox="1"/>
          <p:nvPr/>
        </p:nvSpPr>
        <p:spPr>
          <a:xfrm>
            <a:off x="502919" y="3977684"/>
            <a:ext cx="41148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i="1" sz="1000">
                <a:solidFill>
                  <a:srgbClr val="8BAFC4"/>
                </a:solidFill>
              </a:defRPr>
            </a:lvl1pPr>
          </a:lstStyle>
          <a:p>
            <a:pPr/>
            <a:r>
              <a:t>Baseline on Jetson Orin Nano</a:t>
            </a:r>
          </a:p>
        </p:txBody>
      </p:sp>
      <p:sp>
        <p:nvSpPr>
          <p:cNvPr id="161" name="Shape 11"/>
          <p:cNvSpPr/>
          <p:nvPr/>
        </p:nvSpPr>
        <p:spPr>
          <a:xfrm>
            <a:off x="5029200" y="1828800"/>
            <a:ext cx="4206241" cy="2560321"/>
          </a:xfrm>
          <a:prstGeom prst="rect">
            <a:avLst/>
          </a:prstGeom>
          <a:solidFill>
            <a:srgbClr val="112240"/>
          </a:solidFill>
          <a:ln w="254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2" name="Text 12"/>
          <p:cNvSpPr txBox="1"/>
          <p:nvPr/>
        </p:nvSpPr>
        <p:spPr>
          <a:xfrm>
            <a:off x="5074920" y="2001608"/>
            <a:ext cx="4114801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000">
                <a:solidFill>
                  <a:srgbClr val="00C896"/>
                </a:solidFill>
              </a:defRPr>
            </a:lvl1pPr>
          </a:lstStyle>
          <a:p>
            <a:pPr/>
            <a:r>
              <a:t>TensorRT FP16</a:t>
            </a:r>
          </a:p>
        </p:txBody>
      </p:sp>
      <p:sp>
        <p:nvSpPr>
          <p:cNvPr id="163" name="Text 13"/>
          <p:cNvSpPr txBox="1"/>
          <p:nvPr/>
        </p:nvSpPr>
        <p:spPr>
          <a:xfrm>
            <a:off x="5074920" y="2540441"/>
            <a:ext cx="4114801" cy="6341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4200">
                <a:solidFill>
                  <a:srgbClr val="FFFFFF"/>
                </a:solidFill>
              </a:defRPr>
            </a:lvl1pPr>
          </a:lstStyle>
          <a:p>
            <a:pPr/>
            <a:r>
              <a:t>16.11 ms</a:t>
            </a:r>
          </a:p>
        </p:txBody>
      </p:sp>
      <p:sp>
        <p:nvSpPr>
          <p:cNvPr id="164" name="Text 14"/>
          <p:cNvSpPr txBox="1"/>
          <p:nvPr/>
        </p:nvSpPr>
        <p:spPr>
          <a:xfrm>
            <a:off x="5074920" y="3270426"/>
            <a:ext cx="41148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100">
                <a:solidFill>
                  <a:srgbClr val="8BAFC4"/>
                </a:solidFill>
              </a:defRPr>
            </a:lvl1pPr>
          </a:lstStyle>
          <a:p>
            <a:pPr/>
            <a:r>
              <a:t>Latency</a:t>
            </a:r>
          </a:p>
        </p:txBody>
      </p:sp>
      <p:sp>
        <p:nvSpPr>
          <p:cNvPr id="165" name="Text 15"/>
          <p:cNvSpPr txBox="1"/>
          <p:nvPr/>
        </p:nvSpPr>
        <p:spPr>
          <a:xfrm>
            <a:off x="5074920" y="3533492"/>
            <a:ext cx="4114801" cy="385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2200">
                <a:solidFill>
                  <a:srgbClr val="00C896"/>
                </a:solidFill>
              </a:defRPr>
            </a:lvl1pPr>
          </a:lstStyle>
          <a:p>
            <a:pPr/>
            <a:r>
              <a:t>62.1 FPS</a:t>
            </a:r>
          </a:p>
        </p:txBody>
      </p:sp>
      <p:sp>
        <p:nvSpPr>
          <p:cNvPr id="166" name="Text 16"/>
          <p:cNvSpPr txBox="1"/>
          <p:nvPr/>
        </p:nvSpPr>
        <p:spPr>
          <a:xfrm>
            <a:off x="5074920" y="3977684"/>
            <a:ext cx="411480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i="1" sz="1000">
                <a:solidFill>
                  <a:srgbClr val="8BAFC4"/>
                </a:solidFill>
              </a:defRPr>
            </a:lvl1pPr>
          </a:lstStyle>
          <a:p>
            <a:pPr/>
            <a:r>
              <a:t>Optimized on Jetson Orin Nano</a:t>
            </a:r>
          </a:p>
        </p:txBody>
      </p:sp>
      <p:sp>
        <p:nvSpPr>
          <p:cNvPr id="167" name="Text 17"/>
          <p:cNvSpPr txBox="1"/>
          <p:nvPr/>
        </p:nvSpPr>
        <p:spPr>
          <a:xfrm>
            <a:off x="502919" y="4459146"/>
            <a:ext cx="813816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100">
                <a:solidFill>
                  <a:srgbClr val="00C896"/>
                </a:solidFill>
              </a:defRPr>
            </a:lvl1pPr>
          </a:lstStyle>
          <a:p>
            <a:pPr/>
            <a:r>
              <a:t>Exported best.pt → TensorRT FP16 on Jetson Orin Nano — nearly 4× faster inference at real-time frame rates.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Shape 0"/>
          <p:cNvSpPr/>
          <p:nvPr/>
        </p:nvSpPr>
        <p:spPr>
          <a:xfrm>
            <a:off x="0" y="-1"/>
            <a:ext cx="9144000" cy="64008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0" name="Text 1"/>
          <p:cNvSpPr txBox="1"/>
          <p:nvPr/>
        </p:nvSpPr>
        <p:spPr>
          <a:xfrm>
            <a:off x="411479" y="101208"/>
            <a:ext cx="813816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System Demo</a:t>
            </a:r>
          </a:p>
        </p:txBody>
      </p:sp>
      <p:pic>
        <p:nvPicPr>
          <p:cNvPr id="171" name="Image 0" descr="Image 0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52" y="926858"/>
            <a:ext cx="5761912" cy="3493517"/>
          </a:xfrm>
          <a:prstGeom prst="rect">
            <a:avLst/>
          </a:prstGeom>
          <a:ln w="12700">
            <a:miter lim="400000"/>
          </a:ln>
        </p:spPr>
      </p:pic>
      <p:sp>
        <p:nvSpPr>
          <p:cNvPr id="172" name="Shape 2"/>
          <p:cNvSpPr/>
          <p:nvPr/>
        </p:nvSpPr>
        <p:spPr>
          <a:xfrm>
            <a:off x="5897879" y="822960"/>
            <a:ext cx="2926082" cy="804673"/>
          </a:xfrm>
          <a:prstGeom prst="rect">
            <a:avLst/>
          </a:prstGeom>
          <a:solidFill>
            <a:srgbClr val="112240"/>
          </a:solidFill>
          <a:ln w="12700">
            <a:solidFill>
              <a:srgbClr val="0D213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3" name="Shape 3"/>
          <p:cNvSpPr/>
          <p:nvPr/>
        </p:nvSpPr>
        <p:spPr>
          <a:xfrm>
            <a:off x="5897879" y="822960"/>
            <a:ext cx="54865" cy="804673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4" name="Text 4"/>
          <p:cNvSpPr txBox="1"/>
          <p:nvPr/>
        </p:nvSpPr>
        <p:spPr>
          <a:xfrm>
            <a:off x="6080760" y="824992"/>
            <a:ext cx="26517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defRPr b="1" sz="1200">
                <a:solidFill>
                  <a:srgbClr val="00C896"/>
                </a:solidFill>
              </a:defRPr>
            </a:lvl1pPr>
          </a:lstStyle>
          <a:p>
            <a:pPr/>
            <a:r>
              <a:t>🎥 Live Feed</a:t>
            </a:r>
          </a:p>
        </p:txBody>
      </p:sp>
      <p:sp>
        <p:nvSpPr>
          <p:cNvPr id="175" name="Text 5"/>
          <p:cNvSpPr txBox="1"/>
          <p:nvPr/>
        </p:nvSpPr>
        <p:spPr>
          <a:xfrm>
            <a:off x="6080760" y="1261916"/>
            <a:ext cx="26517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E8F4F8"/>
                </a:solidFill>
              </a:defRPr>
            </a:lvl1pPr>
          </a:lstStyle>
          <a:p>
            <a:pPr/>
            <a:r>
              <a:t>Real-time YOLOv8 segmentation overlay</a:t>
            </a:r>
          </a:p>
        </p:txBody>
      </p:sp>
      <p:sp>
        <p:nvSpPr>
          <p:cNvPr id="176" name="Shape 6"/>
          <p:cNvSpPr/>
          <p:nvPr/>
        </p:nvSpPr>
        <p:spPr>
          <a:xfrm>
            <a:off x="5897879" y="1783079"/>
            <a:ext cx="2926082" cy="804673"/>
          </a:xfrm>
          <a:prstGeom prst="rect">
            <a:avLst/>
          </a:prstGeom>
          <a:solidFill>
            <a:srgbClr val="112240"/>
          </a:solidFill>
          <a:ln w="12700">
            <a:solidFill>
              <a:srgbClr val="0D213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7" name="Shape 7"/>
          <p:cNvSpPr/>
          <p:nvPr/>
        </p:nvSpPr>
        <p:spPr>
          <a:xfrm>
            <a:off x="5897879" y="1783079"/>
            <a:ext cx="54865" cy="804673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8" name="Text 8"/>
          <p:cNvSpPr txBox="1"/>
          <p:nvPr/>
        </p:nvSpPr>
        <p:spPr>
          <a:xfrm>
            <a:off x="6080760" y="1785111"/>
            <a:ext cx="26517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defRPr b="1" sz="1200">
                <a:solidFill>
                  <a:srgbClr val="00C896"/>
                </a:solidFill>
              </a:defRPr>
            </a:lvl1pPr>
          </a:lstStyle>
          <a:p>
            <a:pPr/>
            <a:r>
              <a:t>📊 Inventory Counts</a:t>
            </a:r>
          </a:p>
        </p:txBody>
      </p:sp>
      <p:sp>
        <p:nvSpPr>
          <p:cNvPr id="179" name="Text 9"/>
          <p:cNvSpPr txBox="1"/>
          <p:nvPr/>
        </p:nvSpPr>
        <p:spPr>
          <a:xfrm>
            <a:off x="6080760" y="2222036"/>
            <a:ext cx="26517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E8F4F8"/>
                </a:solidFill>
              </a:defRPr>
            </a:lvl1pPr>
          </a:lstStyle>
          <a:p>
            <a:pPr/>
            <a:r>
              <a:t>Per-class item count updated in real-time</a:t>
            </a:r>
          </a:p>
        </p:txBody>
      </p:sp>
      <p:sp>
        <p:nvSpPr>
          <p:cNvPr id="180" name="Shape 10"/>
          <p:cNvSpPr/>
          <p:nvPr/>
        </p:nvSpPr>
        <p:spPr>
          <a:xfrm>
            <a:off x="5897879" y="2743200"/>
            <a:ext cx="2926082" cy="804673"/>
          </a:xfrm>
          <a:prstGeom prst="rect">
            <a:avLst/>
          </a:prstGeom>
          <a:solidFill>
            <a:srgbClr val="112240"/>
          </a:solidFill>
          <a:ln w="12700">
            <a:solidFill>
              <a:srgbClr val="0D213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1" name="Shape 11"/>
          <p:cNvSpPr/>
          <p:nvPr/>
        </p:nvSpPr>
        <p:spPr>
          <a:xfrm>
            <a:off x="5897879" y="2743200"/>
            <a:ext cx="54865" cy="804673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2" name="Text 12"/>
          <p:cNvSpPr txBox="1"/>
          <p:nvPr/>
        </p:nvSpPr>
        <p:spPr>
          <a:xfrm>
            <a:off x="6080760" y="2745232"/>
            <a:ext cx="26517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defRPr b="1" sz="1200">
                <a:solidFill>
                  <a:srgbClr val="00C896"/>
                </a:solidFill>
              </a:defRPr>
            </a:lvl1pPr>
          </a:lstStyle>
          <a:p>
            <a:pPr/>
            <a:r>
              <a:t>🔔 Low Stock Alerts</a:t>
            </a:r>
          </a:p>
        </p:txBody>
      </p:sp>
      <p:sp>
        <p:nvSpPr>
          <p:cNvPr id="183" name="Text 13"/>
          <p:cNvSpPr txBox="1"/>
          <p:nvPr/>
        </p:nvSpPr>
        <p:spPr>
          <a:xfrm>
            <a:off x="6080760" y="3182156"/>
            <a:ext cx="26517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E8F4F8"/>
                </a:solidFill>
              </a:defRPr>
            </a:lvl1pPr>
          </a:lstStyle>
          <a:p>
            <a:pPr/>
            <a:r>
              <a:t>Automatic alerts when items run low</a:t>
            </a:r>
          </a:p>
        </p:txBody>
      </p:sp>
      <p:sp>
        <p:nvSpPr>
          <p:cNvPr id="184" name="Shape 14"/>
          <p:cNvSpPr/>
          <p:nvPr/>
        </p:nvSpPr>
        <p:spPr>
          <a:xfrm>
            <a:off x="5897879" y="3703320"/>
            <a:ext cx="2926082" cy="804673"/>
          </a:xfrm>
          <a:prstGeom prst="rect">
            <a:avLst/>
          </a:prstGeom>
          <a:solidFill>
            <a:srgbClr val="112240"/>
          </a:solidFill>
          <a:ln w="12700">
            <a:solidFill>
              <a:srgbClr val="0D213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5" name="Shape 15"/>
          <p:cNvSpPr/>
          <p:nvPr/>
        </p:nvSpPr>
        <p:spPr>
          <a:xfrm>
            <a:off x="5897879" y="3703320"/>
            <a:ext cx="54865" cy="804673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6" name="Text 16"/>
          <p:cNvSpPr txBox="1"/>
          <p:nvPr/>
        </p:nvSpPr>
        <p:spPr>
          <a:xfrm>
            <a:off x="6080760" y="3705351"/>
            <a:ext cx="2651761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>
            <a:spAutoFit/>
          </a:bodyPr>
          <a:lstStyle>
            <a:lvl1pPr>
              <a:defRPr b="1" sz="1200">
                <a:solidFill>
                  <a:srgbClr val="00C896"/>
                </a:solidFill>
              </a:defRPr>
            </a:lvl1pPr>
          </a:lstStyle>
          <a:p>
            <a:pPr/>
            <a:r>
              <a:t>⚡ Stack</a:t>
            </a:r>
          </a:p>
        </p:txBody>
      </p:sp>
      <p:sp>
        <p:nvSpPr>
          <p:cNvPr id="187" name="Text 17"/>
          <p:cNvSpPr txBox="1"/>
          <p:nvPr/>
        </p:nvSpPr>
        <p:spPr>
          <a:xfrm>
            <a:off x="6080760" y="4142276"/>
            <a:ext cx="26517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E8F4F8"/>
                </a:solidFill>
              </a:defRPr>
            </a:lvl1pPr>
          </a:lstStyle>
          <a:p>
            <a:pPr/>
            <a:r>
              <a:t>FastAPI backend + React frontend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0"/>
          <p:cNvSpPr/>
          <p:nvPr/>
        </p:nvSpPr>
        <p:spPr>
          <a:xfrm>
            <a:off x="0" y="15174"/>
            <a:ext cx="9144000" cy="640081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0" name="Text 1"/>
          <p:cNvSpPr txBox="1"/>
          <p:nvPr/>
        </p:nvSpPr>
        <p:spPr>
          <a:xfrm>
            <a:off x="411479" y="101208"/>
            <a:ext cx="8138161" cy="43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Conclusion &amp; Future Work</a:t>
            </a:r>
          </a:p>
        </p:txBody>
      </p:sp>
      <p:sp>
        <p:nvSpPr>
          <p:cNvPr id="191" name="Text 2"/>
          <p:cNvSpPr txBox="1"/>
          <p:nvPr/>
        </p:nvSpPr>
        <p:spPr>
          <a:xfrm>
            <a:off x="365760" y="855543"/>
            <a:ext cx="4023360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600">
                <a:solidFill>
                  <a:srgbClr val="00C896"/>
                </a:solidFill>
              </a:defRPr>
            </a:lvl1pPr>
          </a:lstStyle>
          <a:p>
            <a:pPr/>
            <a:r>
              <a:t>What We Built</a:t>
            </a:r>
          </a:p>
        </p:txBody>
      </p:sp>
      <p:sp>
        <p:nvSpPr>
          <p:cNvPr id="192" name="Shape 3"/>
          <p:cNvSpPr/>
          <p:nvPr/>
        </p:nvSpPr>
        <p:spPr>
          <a:xfrm>
            <a:off x="320040" y="1280160"/>
            <a:ext cx="4114801" cy="457201"/>
          </a:xfrm>
          <a:prstGeom prst="rect">
            <a:avLst/>
          </a:prstGeom>
          <a:solidFill>
            <a:srgbClr val="112240"/>
          </a:solidFill>
          <a:ln w="12700">
            <a:solidFill>
              <a:srgbClr val="0D213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3" name="Shape 4"/>
          <p:cNvSpPr/>
          <p:nvPr/>
        </p:nvSpPr>
        <p:spPr>
          <a:xfrm>
            <a:off x="320040" y="1280160"/>
            <a:ext cx="54865" cy="457201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4" name="Text 5"/>
          <p:cNvSpPr txBox="1"/>
          <p:nvPr/>
        </p:nvSpPr>
        <p:spPr>
          <a:xfrm>
            <a:off x="502919" y="1377761"/>
            <a:ext cx="3840481" cy="261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✓  Complete end-to-end computer vision pipeline</a:t>
            </a:r>
          </a:p>
        </p:txBody>
      </p:sp>
      <p:sp>
        <p:nvSpPr>
          <p:cNvPr id="195" name="Shape 6"/>
          <p:cNvSpPr/>
          <p:nvPr/>
        </p:nvSpPr>
        <p:spPr>
          <a:xfrm>
            <a:off x="320040" y="1810511"/>
            <a:ext cx="4114801" cy="457201"/>
          </a:xfrm>
          <a:prstGeom prst="rect">
            <a:avLst/>
          </a:prstGeom>
          <a:solidFill>
            <a:srgbClr val="112240"/>
          </a:solidFill>
          <a:ln w="12700">
            <a:solidFill>
              <a:srgbClr val="0D213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6" name="Shape 7"/>
          <p:cNvSpPr/>
          <p:nvPr/>
        </p:nvSpPr>
        <p:spPr>
          <a:xfrm>
            <a:off x="320040" y="1810511"/>
            <a:ext cx="54865" cy="457201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7" name="Text 8"/>
          <p:cNvSpPr txBox="1"/>
          <p:nvPr/>
        </p:nvSpPr>
        <p:spPr>
          <a:xfrm>
            <a:off x="502919" y="1825563"/>
            <a:ext cx="3840481" cy="427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✓  YOLOv8 instance segmentation trained on custom retail dataset</a:t>
            </a:r>
          </a:p>
        </p:txBody>
      </p:sp>
      <p:sp>
        <p:nvSpPr>
          <p:cNvPr id="198" name="Shape 9"/>
          <p:cNvSpPr/>
          <p:nvPr/>
        </p:nvSpPr>
        <p:spPr>
          <a:xfrm>
            <a:off x="320040" y="2340864"/>
            <a:ext cx="4114801" cy="457201"/>
          </a:xfrm>
          <a:prstGeom prst="rect">
            <a:avLst/>
          </a:prstGeom>
          <a:solidFill>
            <a:srgbClr val="112240"/>
          </a:solidFill>
          <a:ln w="12700">
            <a:solidFill>
              <a:srgbClr val="0D213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9" name="Shape 10"/>
          <p:cNvSpPr/>
          <p:nvPr/>
        </p:nvSpPr>
        <p:spPr>
          <a:xfrm>
            <a:off x="320040" y="2340864"/>
            <a:ext cx="54865" cy="457201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0" name="Text 11"/>
          <p:cNvSpPr txBox="1"/>
          <p:nvPr/>
        </p:nvSpPr>
        <p:spPr>
          <a:xfrm>
            <a:off x="502919" y="2355915"/>
            <a:ext cx="3840481" cy="427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✓  TensorRT FP16 optimization: 3.93× speedup on Jetson Orin Nano</a:t>
            </a:r>
          </a:p>
        </p:txBody>
      </p:sp>
      <p:sp>
        <p:nvSpPr>
          <p:cNvPr id="201" name="Shape 12"/>
          <p:cNvSpPr/>
          <p:nvPr/>
        </p:nvSpPr>
        <p:spPr>
          <a:xfrm>
            <a:off x="320040" y="2871216"/>
            <a:ext cx="4114801" cy="457201"/>
          </a:xfrm>
          <a:prstGeom prst="rect">
            <a:avLst/>
          </a:prstGeom>
          <a:solidFill>
            <a:srgbClr val="112240"/>
          </a:solidFill>
          <a:ln w="12700">
            <a:solidFill>
              <a:srgbClr val="0D213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2" name="Shape 13"/>
          <p:cNvSpPr/>
          <p:nvPr/>
        </p:nvSpPr>
        <p:spPr>
          <a:xfrm>
            <a:off x="320040" y="2871216"/>
            <a:ext cx="54865" cy="457201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3" name="Text 14"/>
          <p:cNvSpPr txBox="1"/>
          <p:nvPr/>
        </p:nvSpPr>
        <p:spPr>
          <a:xfrm>
            <a:off x="502919" y="2968817"/>
            <a:ext cx="3840481" cy="261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✓  Live FastAPI + React dashboard with inventory tracking &amp; alerts</a:t>
            </a:r>
          </a:p>
        </p:txBody>
      </p:sp>
      <p:sp>
        <p:nvSpPr>
          <p:cNvPr id="204" name="Shape 15"/>
          <p:cNvSpPr/>
          <p:nvPr/>
        </p:nvSpPr>
        <p:spPr>
          <a:xfrm>
            <a:off x="320040" y="3401567"/>
            <a:ext cx="4114801" cy="457201"/>
          </a:xfrm>
          <a:prstGeom prst="rect">
            <a:avLst/>
          </a:prstGeom>
          <a:solidFill>
            <a:srgbClr val="112240"/>
          </a:solidFill>
          <a:ln w="12700">
            <a:solidFill>
              <a:srgbClr val="0D213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5" name="Shape 16"/>
          <p:cNvSpPr/>
          <p:nvPr/>
        </p:nvSpPr>
        <p:spPr>
          <a:xfrm>
            <a:off x="320040" y="3401567"/>
            <a:ext cx="54865" cy="457201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6" name="Text 17"/>
          <p:cNvSpPr txBox="1"/>
          <p:nvPr/>
        </p:nvSpPr>
        <p:spPr>
          <a:xfrm>
            <a:off x="502919" y="3499169"/>
            <a:ext cx="3840481" cy="261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/>
            <a:r>
              <a:t>✓  88.7% Mask mAP@50 on held-out test set</a:t>
            </a:r>
          </a:p>
        </p:txBody>
      </p:sp>
      <p:sp>
        <p:nvSpPr>
          <p:cNvPr id="207" name="Shape 25"/>
          <p:cNvSpPr/>
          <p:nvPr/>
        </p:nvSpPr>
        <p:spPr>
          <a:xfrm>
            <a:off x="0" y="4663440"/>
            <a:ext cx="9144000" cy="480061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8" name="Text 26"/>
          <p:cNvSpPr txBox="1"/>
          <p:nvPr/>
        </p:nvSpPr>
        <p:spPr>
          <a:xfrm>
            <a:off x="45719" y="4763070"/>
            <a:ext cx="9052561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400">
                <a:solidFill>
                  <a:srgbClr val="0A1628"/>
                </a:solidFill>
              </a:defRPr>
            </a:lvl1pPr>
          </a:lstStyle>
          <a:p>
            <a:pPr/>
            <a:r>
              <a:t>StockSync — Smarter Shelves. Real-Time Intelligence.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